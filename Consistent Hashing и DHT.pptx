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80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330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выступления — согласованное хеширование и распределённые хеш-таблицы. Мы последовательно разберём проблему распределения данных, Chord, Kademlia и применение DHT в BitTorrent. Все алгоритмы иллюстрируются небольшим пространством ID от 0 до 63.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 сервер легко администрировать, но его ресурсы конечны. Горизонтальное масштабирование распределяет данные по нескольким машинам. Нужно по идентификатору записи быстро понять, куда обращаться — без опроса всех серверов и без полной центральной таблицы.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Обычный шардинг часто задаётся формулой server = hash(key) mod N. Пока N постоянно, это удобно. При изменении числа узлов остатки от деления меняются для многих ключей: возникают миграции данных или потеря попаданий в кэше. На слайде — только иллюстративные числовые значения хешей.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ключи, и серверы хешируются в фиксированное пространство идентификаторов. В докладе используется 6-битное кольцо от 0 до 63 для наглядности. Позиция 54 следует за 42 и до 56, поэтому владельцем 54 является узел 56. Ключ 60 переходит через ноль и попадает к узлу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добавлении узла 51 ключи интервала (42,51] переходят с 56 на 51. Из показанных ключей перемещается только 48. Ключ 54 остаётся у 56. Это главное свойство согласованного хеширования: изменения локализованы в пределах участка кольца.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случайном размещении настоящих серверов интервалы кольца могут существенно отличаться. Один сервер получает больше ключей, другой меньше. Виртуальные узлы позволяют одному физическому серверу занимать несколько позиций. Это сглаживает распределение и даёт гибкость при разной мощности машин.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P2P узлы одновременно могут и задавать запросы, и обслуживать их. Поверх IP они образуют логический граф — оверлей. В DHT участник не обязан знать все машины, достаточно локальной таблицы маршрутизации, позволяющей шаг за шагом добраться до ответственного за ключ узла.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Chord поддерживает для каждого узла ближайших соседей на кольце. Если известен только successor, можно последовательно пересылать запрос вдоль кольца — но поиск может быть линейным. Finger table содержит более дальние ссылки и позволяет ускорить маршрутизацию.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Chord длина таблицы finger table равна m для m-битного пространства. Для узла 8 при m=6 старты: 9,10,12,16,24,40. Поиск successor этих позиций даёт узлы 14,14,14,21,32,42. Поэтому по таблице можно перескакивать сразу к узлу 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Узел 8 ищет 54. Его successor 14 не подходит, а дальняя ссылка позволяет перейти на 42. С 42 запрос переходит к 51. Узел 51 видит, что ключ 54 лежит между ним и successor 56, значит ответ — 56. В примере это 3 логических перехода против длинного обхода соседей.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подключении новый узел узнаёт хотя бы </a:t>
            </a:r>
            <a:r>
              <a:rPr lang="en-US" dirty="0" err="1"/>
              <a:t>один</a:t>
            </a:r>
            <a:r>
              <a:rPr lang="en-US" dirty="0"/>
              <a:t> адрес действующего участника, через него находит место в кольце. stabilize, notify, fix_fingers и check_predecessor помогают со временем привести таблицы к актуальному состоянию. При стандартных предположениях Chord даёт ожидаемый поиск O(log 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XOR сравнивает двоичные идентификаторы: одинаковые биты дают 0, различные — 1. Результат рассматривается как неотрицательное целое число. Для цели 54 расстояние до 51 равно 5, а до 56 равно 14. Поэтому понятие близости отличается от кольцевого successor у Chord.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Двоичное дерево префиксов — логическая геометрия Kademlia. Каждый узел группирует контакты в k-buckets по интервалам XOR-расстояния. Контакты хранят ID, адрес и порт. k задаёт максимальную вместимость bucket; в оригинальной статье обычно фигурирует k=20. Долгоживущие ответившие узлы предпочтительны при выборе контактов.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Kademlia описывает PING, STORE, FIND_NODE и FIND_VALUE. FIND_NODE возвращает ближайшие известные контакты, а FIND_VALUE либо возвращает найденное значение, либо предлагает искать через следующие контакты. Значение может дублироваться у нескольких ближайших по XOR узлов.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Инициатор запроса сохраняет управление процессом. Он отправляет FIND_NODE нескольким ближайшим известным узлам, объединяет ответы и выбирает новых непроверенных кандидатов. Параметр alpha ограничивает параллелизм. В классическом описании часто приводится alpha=3. При этом различают число раундов, сообщений и фактическую задержку.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сквозном примере узлу 8 известны 21,32,42, расстояния до 54 равны 35,22,28. Запросы отправляются к более близким 32 и 42. Из ответа 42 узел 8 узнаёт ID 48,51,56 с расстояниями соответственно 6,5,14. Он продолжает запросы по новым контактам. После необходимых проверок ближайшие здесь 51,48,56.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примере предположим, что значение key=54 хранится у узла 51. После маршрутизации инициатор отправляет FIND_VALUE(54) и получает ответ. Kademlia может реплицировать пары ключ–значение между несколькими близкими узлами, что помогает переживать отдельные отказы.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BitTorrent уменьшает нагрузку на </a:t>
            </a:r>
            <a:r>
              <a:rPr lang="en-US" dirty="0" err="1"/>
              <a:t>один</a:t>
            </a:r>
            <a:r>
              <a:rPr lang="en-US" dirty="0"/>
              <a:t> источник: большой файл разбивается на части, которые поступают от разных пиров. Сид содержит весь файл, личер ещё скачивает недостающие части, но уже может делиться имеющимися. Сумма участников конкретной раздачи — swarm. Хеши частей позволяют проверять целостность.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BitTorrent ключом является info_hash, идентификатор торрент-метаданных. DHT по BEP 5 работает поверх UDP и основана на Kademlia-подобной маршрутизации. Возвращаются контакты пиров — IP и порт. Сами части файлов BitTorrent DHT не хранит и не пересылает. При этом tracker, DHT и другие механизмы обнаружения могут сосуществовать.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get_peers ищет адреса участников раздачи. Узел возвращает values, если знает пиров; иначе nodes — контакты узлов, более близких к info_hash. В ответ входит token, нужный для дальнейшего announce_peer. Клиент сообщает info_hash, порт и token. Токен привязан к недавнему запросу и IP запрашивающего, снижая риск поддельного объявления.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исходном докладе клиент узла 8 открывает magnet и получает info_hash 54. Он начинает обход, зная 21,32,42, затем узнаёт 48,51,56. get_peers(54) отправляется к близким по XOR DHT-узлам. Предположим, 51 возвращает двух участников, а 48 ещё одного. Клиент получает их адреса и соединяется с ними.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наглядности в исходном докладе приведены примерные документальные IP-адреса из диапазона 203.0.113.0/24. Первый пир имеет части 1 и 3, второй 2 и 4, третий весь файл. Клиент скачивает недостающие части, проверяет хеши и собирает lecture.mp4. После этого может выполнить announce_peer, чтобы его самого смогли найти другие клиенты.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 1: ключ 48 переходит к узлу 51, а 54 остаётся у 56, потому что только участок (42,51] меняет владельца. Вопрос 2: finger table узла 8 содержит ссылку на 42; она предшествует 54, но позволяет пропустить многих промежуточных участников. Вопрос 3: get_peers — поиск адресов, а передача частей файла идёт по протоколу BitTorrent.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oundRect">
            <a:avLst>
              <a:gd name="adj" fmla="val 145455"/>
            </a:avLst>
          </a:prstGeom>
          <a:solidFill>
            <a:srgbClr val="39DFBF"/>
          </a:solidFill>
          <a:ln w="12700">
            <a:solidFill>
              <a:srgbClr val="39DFB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16736"/>
            <a:ext cx="85496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Consistent Hashing</a:t>
            </a:r>
            <a:endParaRPr lang="en-US" sz="4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и DHT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704088" y="3300984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3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распределять данные и находить узлы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94944" y="4233672"/>
            <a:ext cx="1773936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4247388"/>
            <a:ext cx="1591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15184" y="4233672"/>
            <a:ext cx="2240280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06624" y="4247388"/>
            <a:ext cx="2057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9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KADEMLIA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01768" y="4233672"/>
            <a:ext cx="2551176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93208" y="4247388"/>
            <a:ext cx="23682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BITTORRENT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93608" y="1325880"/>
            <a:ext cx="3593592" cy="3593592"/>
          </a:xfrm>
          <a:prstGeom prst="ellipse">
            <a:avLst/>
          </a:prstGeom>
          <a:solidFill>
            <a:srgbClr val="081622">
              <a:alpha val="0"/>
            </a:srgbClr>
          </a:solidFill>
          <a:ln w="29210">
            <a:solidFill>
              <a:srgbClr val="2851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4899" y="1596117"/>
            <a:ext cx="512064" cy="512064"/>
          </a:xfrm>
          <a:prstGeom prst="ellipse">
            <a:avLst/>
          </a:prstGeom>
          <a:solidFill>
            <a:srgbClr val="78C8FF"/>
          </a:solidFill>
          <a:ln w="12700">
            <a:solidFill>
              <a:srgbClr val="78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23187" y="1650981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419005" y="3713648"/>
            <a:ext cx="512064" cy="512064"/>
          </a:xfrm>
          <a:prstGeom prst="ellipse">
            <a:avLst/>
          </a:prstGeom>
          <a:solidFill>
            <a:srgbClr val="78C8FF"/>
          </a:solidFill>
          <a:ln w="12700">
            <a:solidFill>
              <a:srgbClr val="78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7293" y="376851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40391" y="3864890"/>
            <a:ext cx="512064" cy="512064"/>
          </a:xfrm>
          <a:prstGeom prst="ellipse">
            <a:avLst/>
          </a:prstGeom>
          <a:solidFill>
            <a:srgbClr val="78C8FF"/>
          </a:solidFill>
          <a:ln w="12700">
            <a:solidFill>
              <a:srgbClr val="78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8679" y="391975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63845" y="1596117"/>
            <a:ext cx="512064" cy="512064"/>
          </a:xfrm>
          <a:prstGeom prst="ellipse">
            <a:avLst/>
          </a:prstGeom>
          <a:solidFill>
            <a:srgbClr val="39DFBF"/>
          </a:solidFill>
          <a:ln w="12700">
            <a:solidFill>
              <a:srgbClr val="39D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82133" y="1650981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1524949" y="2064994"/>
            <a:ext cx="118872" cy="118872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81506" y="4825511"/>
            <a:ext cx="118872" cy="118872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36987" y="2064994"/>
            <a:ext cx="118872" cy="118872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43364" y="1403217"/>
            <a:ext cx="118872" cy="118872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47120" y="6455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МОТИВАЦИЯ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От одного сервера — к распределённой системе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Горизонтальное масштабирование решает проблему ресурсов, но создаёт проблему размещения данных.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914400" y="2423160"/>
            <a:ext cx="1051560" cy="1143000"/>
          </a:xfrm>
          <a:prstGeom prst="roundRect">
            <a:avLst>
              <a:gd name="adj" fmla="val 9565"/>
            </a:avLst>
          </a:prstGeom>
          <a:solidFill>
            <a:srgbClr val="153345"/>
          </a:solidFill>
          <a:ln w="12700">
            <a:solidFill>
              <a:srgbClr val="FFBF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651760"/>
            <a:ext cx="777240" cy="0"/>
          </a:xfrm>
          <a:prstGeom prst="line">
            <a:avLst/>
          </a:prstGeom>
          <a:noFill/>
          <a:ln w="15240">
            <a:solidFill>
              <a:srgbClr val="FFBF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862072"/>
            <a:ext cx="777240" cy="0"/>
          </a:xfrm>
          <a:prstGeom prst="line">
            <a:avLst/>
          </a:prstGeom>
          <a:noFill/>
          <a:ln w="15240">
            <a:solidFill>
              <a:srgbClr val="FFBF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6015" y="3001975"/>
            <a:ext cx="67666" cy="67666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6576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" y="4251960"/>
            <a:ext cx="310896" cy="438912"/>
          </a:xfrm>
          <a:prstGeom prst="roundRect">
            <a:avLst>
              <a:gd name="adj" fmla="val 7353"/>
            </a:avLst>
          </a:prstGeom>
          <a:solidFill>
            <a:srgbClr val="153345"/>
          </a:solidFill>
          <a:ln w="12700">
            <a:solidFill>
              <a:srgbClr val="FFBF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" y="4398264"/>
            <a:ext cx="192024" cy="0"/>
          </a:xfrm>
          <a:prstGeom prst="line">
            <a:avLst/>
          </a:prstGeom>
          <a:noFill/>
          <a:ln w="12700">
            <a:solidFill>
              <a:srgbClr val="FFBF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1540" y="4480560"/>
            <a:ext cx="192024" cy="0"/>
          </a:xfrm>
          <a:prstGeom prst="line">
            <a:avLst/>
          </a:prstGeom>
          <a:noFill/>
          <a:ln w="12700">
            <a:solidFill>
              <a:srgbClr val="FFBF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1540" y="4562856"/>
            <a:ext cx="137160" cy="0"/>
          </a:xfrm>
          <a:prstGeom prst="line">
            <a:avLst/>
          </a:prstGeom>
          <a:noFill/>
          <a:ln w="12700">
            <a:solidFill>
              <a:srgbClr val="FFBF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3584" y="4251960"/>
            <a:ext cx="310896" cy="438912"/>
          </a:xfrm>
          <a:prstGeom prst="roundRect">
            <a:avLst>
              <a:gd name="adj" fmla="val 7353"/>
            </a:avLst>
          </a:prstGeom>
          <a:solidFill>
            <a:srgbClr val="153345"/>
          </a:solidFill>
          <a:ln w="12700">
            <a:solidFill>
              <a:srgbClr val="FFBF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03020" y="4398264"/>
            <a:ext cx="192024" cy="0"/>
          </a:xfrm>
          <a:prstGeom prst="line">
            <a:avLst/>
          </a:prstGeom>
          <a:noFill/>
          <a:ln w="12700">
            <a:solidFill>
              <a:srgbClr val="FFBF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03020" y="4480560"/>
            <a:ext cx="192024" cy="0"/>
          </a:xfrm>
          <a:prstGeom prst="line">
            <a:avLst/>
          </a:prstGeom>
          <a:noFill/>
          <a:ln w="12700">
            <a:solidFill>
              <a:srgbClr val="FFBF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03020" y="4562856"/>
            <a:ext cx="137160" cy="0"/>
          </a:xfrm>
          <a:prstGeom prst="line">
            <a:avLst/>
          </a:prstGeom>
          <a:noFill/>
          <a:ln w="12700">
            <a:solidFill>
              <a:srgbClr val="FFBF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55064" y="4251960"/>
            <a:ext cx="310896" cy="438912"/>
          </a:xfrm>
          <a:prstGeom prst="roundRect">
            <a:avLst>
              <a:gd name="adj" fmla="val 7353"/>
            </a:avLst>
          </a:prstGeom>
          <a:solidFill>
            <a:srgbClr val="153345"/>
          </a:solidFill>
          <a:ln w="12700">
            <a:solidFill>
              <a:srgbClr val="FFBF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14500" y="4398264"/>
            <a:ext cx="192024" cy="0"/>
          </a:xfrm>
          <a:prstGeom prst="line">
            <a:avLst/>
          </a:prstGeom>
          <a:noFill/>
          <a:ln w="12700">
            <a:solidFill>
              <a:srgbClr val="FFBF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14500" y="4480560"/>
            <a:ext cx="192024" cy="0"/>
          </a:xfrm>
          <a:prstGeom prst="line">
            <a:avLst/>
          </a:prstGeom>
          <a:noFill/>
          <a:ln w="12700">
            <a:solidFill>
              <a:srgbClr val="FFBF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14500" y="4562856"/>
            <a:ext cx="137160" cy="0"/>
          </a:xfrm>
          <a:prstGeom prst="line">
            <a:avLst/>
          </a:prstGeom>
          <a:noFill/>
          <a:ln w="12700">
            <a:solidFill>
              <a:srgbClr val="FFBF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79776" y="2980944"/>
            <a:ext cx="1124712" cy="0"/>
          </a:xfrm>
          <a:prstGeom prst="line">
            <a:avLst/>
          </a:prstGeom>
          <a:noFill/>
          <a:ln w="39370">
            <a:solidFill>
              <a:srgbClr val="39DFB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096512" y="2039112"/>
            <a:ext cx="3182112" cy="2331720"/>
          </a:xfrm>
          <a:prstGeom prst="roundRect">
            <a:avLst>
              <a:gd name="adj" fmla="val 7059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61688" y="2313432"/>
            <a:ext cx="2660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Шардинг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4407408" y="2944368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Данные делятся на части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размещаются на разных узлах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70064" y="2980944"/>
            <a:ext cx="932688" cy="0"/>
          </a:xfrm>
          <a:prstGeom prst="line">
            <a:avLst/>
          </a:prstGeom>
          <a:noFill/>
          <a:ln w="39370">
            <a:solidFill>
              <a:srgbClr val="39DFB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531352" y="1975104"/>
            <a:ext cx="786384" cy="841248"/>
          </a:xfrm>
          <a:prstGeom prst="roundRect">
            <a:avLst>
              <a:gd name="adj" fmla="val 12791"/>
            </a:avLst>
          </a:prstGeom>
          <a:solidFill>
            <a:srgbClr val="153345"/>
          </a:solidFill>
          <a:ln w="12700">
            <a:solidFill>
              <a:srgbClr val="78C8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68512" y="2203704"/>
            <a:ext cx="512064" cy="0"/>
          </a:xfrm>
          <a:prstGeom prst="line">
            <a:avLst/>
          </a:prstGeom>
          <a:noFill/>
          <a:ln w="15240">
            <a:solidFill>
              <a:srgbClr val="78C8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68512" y="2414016"/>
            <a:ext cx="512064" cy="0"/>
          </a:xfrm>
          <a:prstGeom prst="line">
            <a:avLst/>
          </a:prstGeom>
          <a:noFill/>
          <a:ln w="15240">
            <a:solidFill>
              <a:srgbClr val="78C8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52967" y="2553919"/>
            <a:ext cx="67666" cy="67666"/>
          </a:xfrm>
          <a:prstGeom prst="ellipse">
            <a:avLst/>
          </a:prstGeom>
          <a:solidFill>
            <a:srgbClr val="78C8FF"/>
          </a:solidFill>
          <a:ln w="12700">
            <a:solidFill>
              <a:srgbClr val="78C8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49640" y="2907792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601200" y="2697480"/>
            <a:ext cx="786384" cy="841248"/>
          </a:xfrm>
          <a:prstGeom prst="roundRect">
            <a:avLst>
              <a:gd name="adj" fmla="val 12791"/>
            </a:avLst>
          </a:prstGeom>
          <a:solidFill>
            <a:srgbClr val="153345"/>
          </a:solidFill>
          <a:ln w="12700">
            <a:solidFill>
              <a:srgbClr val="39DF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38360" y="2926080"/>
            <a:ext cx="512064" cy="0"/>
          </a:xfrm>
          <a:prstGeom prst="line">
            <a:avLst/>
          </a:prstGeom>
          <a:noFill/>
          <a:ln w="15240">
            <a:solidFill>
              <a:srgbClr val="39DF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38360" y="3136392"/>
            <a:ext cx="512064" cy="0"/>
          </a:xfrm>
          <a:prstGeom prst="line">
            <a:avLst/>
          </a:prstGeom>
          <a:noFill/>
          <a:ln w="15240">
            <a:solidFill>
              <a:srgbClr val="39DF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22815" y="3276295"/>
            <a:ext cx="67666" cy="67666"/>
          </a:xfrm>
          <a:prstGeom prst="ellipse">
            <a:avLst/>
          </a:prstGeom>
          <a:solidFill>
            <a:srgbClr val="39DFBF"/>
          </a:solidFill>
          <a:ln w="12700">
            <a:solidFill>
              <a:srgbClr val="39DFB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19488" y="3630168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680192" y="1956816"/>
            <a:ext cx="786384" cy="841248"/>
          </a:xfrm>
          <a:prstGeom prst="roundRect">
            <a:avLst>
              <a:gd name="adj" fmla="val 12791"/>
            </a:avLst>
          </a:prstGeom>
          <a:solidFill>
            <a:srgbClr val="153345"/>
          </a:solidFill>
          <a:ln w="12700">
            <a:solidFill>
              <a:srgbClr val="B9A6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17352" y="2185416"/>
            <a:ext cx="512064" cy="0"/>
          </a:xfrm>
          <a:prstGeom prst="line">
            <a:avLst/>
          </a:prstGeom>
          <a:noFill/>
          <a:ln w="15240">
            <a:solidFill>
              <a:srgbClr val="B9A6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817352" y="2395728"/>
            <a:ext cx="512064" cy="0"/>
          </a:xfrm>
          <a:prstGeom prst="line">
            <a:avLst/>
          </a:prstGeom>
          <a:noFill/>
          <a:ln w="15240">
            <a:solidFill>
              <a:srgbClr val="B9A6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801807" y="2535631"/>
            <a:ext cx="67666" cy="67666"/>
          </a:xfrm>
          <a:prstGeom prst="ellipse">
            <a:avLst/>
          </a:prstGeom>
          <a:solidFill>
            <a:srgbClr val="B9A6FF"/>
          </a:solidFill>
          <a:ln w="12700">
            <a:solidFill>
              <a:srgbClr val="B9A6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98480" y="288950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58952" y="4992624"/>
            <a:ext cx="10634472" cy="758952"/>
          </a:xfrm>
          <a:prstGeom prst="roundRect">
            <a:avLst>
              <a:gd name="adj" fmla="val 15663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1560" y="517550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Главный вопрос: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3026664" y="5138928"/>
            <a:ext cx="7808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 какому </a:t>
            </a:r>
            <a:r>
              <a:rPr lang="en-US" sz="2000" dirty="0" smtClean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</a:t>
            </a:r>
            <a:r>
              <a:rPr lang="ru-RU" sz="2000" dirty="0" err="1" smtClean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равилу</a:t>
            </a:r>
            <a:r>
              <a:rPr lang="en-US" sz="2000" dirty="0" smtClean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0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определять узел для конкретного ключа?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МОТИВАЦИЯ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Почему hash(key) mod N неудобен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изменении N многие ключи меняют назначенный сервер.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722376" y="1865376"/>
            <a:ext cx="5212080" cy="3108960"/>
          </a:xfrm>
          <a:prstGeom prst="roundRect">
            <a:avLst>
              <a:gd name="adj" fmla="val 5294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1865376"/>
            <a:ext cx="5212080" cy="3108960"/>
          </a:xfrm>
          <a:prstGeom prst="roundRect">
            <a:avLst>
              <a:gd name="adj" fmla="val 5294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130552"/>
            <a:ext cx="4572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Было: N = 3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492240" y="2130552"/>
            <a:ext cx="4572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Стало: N = 4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97280" y="277977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10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70048" y="2766060"/>
            <a:ext cx="877824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1488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28816" y="277977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10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01584" y="2766060"/>
            <a:ext cx="877824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93024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S2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99448" y="2779776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смена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1097280" y="307695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11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70048" y="3063240"/>
            <a:ext cx="877824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61488" y="307695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S2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28816" y="307695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11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01584" y="3063240"/>
            <a:ext cx="877824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3024" y="307695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99448" y="3076956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смена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1097280" y="337413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12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670048" y="3360420"/>
            <a:ext cx="877824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61488" y="33741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S0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28816" y="337413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12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01584" y="3360420"/>
            <a:ext cx="877824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93024" y="33741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S0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97280" y="367131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13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670048" y="3657600"/>
            <a:ext cx="877824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61488" y="36713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S1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528816" y="367131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13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101584" y="3657600"/>
            <a:ext cx="877824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93024" y="36713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S1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97280" y="396849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14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670048" y="3954780"/>
            <a:ext cx="877824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61488" y="396849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S2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528816" y="396849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14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101584" y="3954780"/>
            <a:ext cx="877824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93024" y="396849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S2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97280" y="426567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15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2670048" y="4251960"/>
            <a:ext cx="877824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61488" y="42656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S0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528816" y="4265676"/>
            <a:ext cx="1243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15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101584" y="4251960"/>
            <a:ext cx="877824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93024" y="42656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S3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9299448" y="4265676"/>
            <a:ext cx="941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смена</a:t>
            </a:r>
            <a:endParaRPr lang="en-US" sz="1130" dirty="0"/>
          </a:p>
        </p:txBody>
      </p:sp>
      <p:sp>
        <p:nvSpPr>
          <p:cNvPr id="54" name="Shape 52"/>
          <p:cNvSpPr/>
          <p:nvPr/>
        </p:nvSpPr>
        <p:spPr>
          <a:xfrm>
            <a:off x="813816" y="5257800"/>
            <a:ext cx="10515600" cy="530352"/>
          </a:xfrm>
          <a:prstGeom prst="roundRect">
            <a:avLst>
              <a:gd name="adj" fmla="val 20690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06424" y="5367528"/>
            <a:ext cx="9857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Нужно правило, при котором добавление сервера затрагивает только часть ключей.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CONSISTENT HASHING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Ключи и серверы — на одном кольце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 назначается первому узлу по часовой стрелке: successor(key).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Согласованное хеширование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1938528" y="2130552"/>
            <a:ext cx="3493008" cy="3493008"/>
          </a:xfrm>
          <a:prstGeom prst="ellipse">
            <a:avLst/>
          </a:prstGeom>
          <a:solidFill>
            <a:srgbClr val="081622">
              <a:alpha val="0"/>
            </a:srgbClr>
          </a:solidFill>
          <a:ln w="34290">
            <a:solidFill>
              <a:srgbClr val="3A66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75564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71800" y="3721608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ID: 0–63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23401" y="2445495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3401" y="2454639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8715" y="4503756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8715" y="451290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36271" y="4650766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36271" y="4659910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53471" y="2445495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53471" y="2454639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64045" y="2833598"/>
            <a:ext cx="146304" cy="146304"/>
          </a:xfrm>
          <a:prstGeom prst="ellipse">
            <a:avLst/>
          </a:prstGeom>
          <a:solidFill>
            <a:srgbClr val="B9A6FF"/>
          </a:solidFill>
          <a:ln w="12700">
            <a:solidFill>
              <a:srgbClr val="B9A6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038" y="2579593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952606" y="5516849"/>
            <a:ext cx="146304" cy="146304"/>
          </a:xfrm>
          <a:prstGeom prst="ellipse">
            <a:avLst/>
          </a:prstGeom>
          <a:solidFill>
            <a:srgbClr val="B9A6FF"/>
          </a:solidFill>
          <a:ln w="12700">
            <a:solidFill>
              <a:srgbClr val="B9A6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16018" y="583883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865376" y="3803904"/>
            <a:ext cx="146304" cy="146304"/>
          </a:xfrm>
          <a:prstGeom prst="ellipse">
            <a:avLst/>
          </a:prstGeom>
          <a:solidFill>
            <a:srgbClr val="B9A6FF"/>
          </a:solidFill>
          <a:ln w="12700">
            <a:solidFill>
              <a:srgbClr val="B9A6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80744" y="3758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59715" y="2833598"/>
            <a:ext cx="146304" cy="146304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8266" y="2579593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43522" y="2190345"/>
            <a:ext cx="146304" cy="146304"/>
          </a:xfrm>
          <a:prstGeom prst="ellipse">
            <a:avLst/>
          </a:prstGeom>
          <a:solidFill>
            <a:srgbClr val="B9A6FF"/>
          </a:solidFill>
          <a:ln w="12700">
            <a:solidFill>
              <a:srgbClr val="B9A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0324" y="1798259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01968" y="1883664"/>
            <a:ext cx="4654296" cy="3557016"/>
          </a:xfrm>
          <a:prstGeom prst="roundRect">
            <a:avLst>
              <a:gd name="adj" fmla="val 4370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21488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 successor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6931152" y="27432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10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650224" y="274320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162288" y="274320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 21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31152" y="31912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30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650224" y="31912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162288" y="319125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 42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931152" y="36393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48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650224" y="36393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9162288" y="363931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 56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931152" y="40873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54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650224" y="40873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162288" y="408736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 56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931152" y="453542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60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650224" y="453542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9162288" y="4535424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 8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947672" y="5998464"/>
            <a:ext cx="4818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Учебное пространство: 6 бит, ID 0–63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CONSISTENT HASHING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Добавляем узел 51 — переезжает только часть ключей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Новому участнику достаётся участок (42, 51].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Согласованное хеширование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722376" y="1874520"/>
            <a:ext cx="5230368" cy="3968496"/>
          </a:xfrm>
          <a:prstGeom prst="roundRect">
            <a:avLst>
              <a:gd name="adj" fmla="val 3456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5352" y="1874520"/>
            <a:ext cx="5230368" cy="3968496"/>
          </a:xfrm>
          <a:prstGeom prst="roundRect">
            <a:avLst>
              <a:gd name="adj" fmla="val 3456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2039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65392" y="2039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075688" y="2852928"/>
            <a:ext cx="2560320" cy="2560320"/>
          </a:xfrm>
          <a:prstGeom prst="ellipse">
            <a:avLst/>
          </a:prstGeom>
          <a:solidFill>
            <a:srgbClr val="081622">
              <a:alpha val="0"/>
            </a:srgbClr>
          </a:solidFill>
          <a:ln w="25400">
            <a:solidFill>
              <a:srgbClr val="3A66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9544" y="247802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42616" y="397764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ID: 0–63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0182" y="3077002"/>
            <a:ext cx="301752" cy="30175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0182" y="3086146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33972" y="4585675"/>
            <a:ext cx="301752" cy="30175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33972" y="4594819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40558" y="4693431"/>
            <a:ext cx="301752" cy="30175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0558" y="4702575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99762" y="3077002"/>
            <a:ext cx="301752" cy="30175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99762" y="3086146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3509" y="4070909"/>
            <a:ext cx="124358" cy="124358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18488" y="40142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29255" y="3359690"/>
            <a:ext cx="124358" cy="124358"/>
          </a:xfrm>
          <a:prstGeom prst="ellipse">
            <a:avLst/>
          </a:prstGeom>
          <a:solidFill>
            <a:srgbClr val="B9A6FF"/>
          </a:solidFill>
          <a:ln w="12700">
            <a:solidFill>
              <a:srgbClr val="B9A6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80465" y="3150593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9520" y="2852928"/>
            <a:ext cx="2560320" cy="2560320"/>
          </a:xfrm>
          <a:prstGeom prst="ellipse">
            <a:avLst/>
          </a:prstGeom>
          <a:solidFill>
            <a:srgbClr val="081622">
              <a:alpha val="0"/>
            </a:srgbClr>
          </a:solidFill>
          <a:ln w="25400">
            <a:solidFill>
              <a:srgbClr val="3A66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23376" y="247802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56448" y="397764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ID: 0–63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624014" y="3077002"/>
            <a:ext cx="301752" cy="30175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24014" y="3086146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847804" y="4585675"/>
            <a:ext cx="301752" cy="30175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47804" y="4594819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54390" y="4693431"/>
            <a:ext cx="301752" cy="30175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54390" y="4702575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93767" y="3610601"/>
            <a:ext cx="301752" cy="301752"/>
          </a:xfrm>
          <a:prstGeom prst="ellipse">
            <a:avLst/>
          </a:prstGeom>
          <a:solidFill>
            <a:srgbClr val="39DFBF"/>
          </a:solidFill>
          <a:ln w="16510">
            <a:solidFill>
              <a:srgbClr val="39D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3767" y="3619745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813594" y="3077002"/>
            <a:ext cx="301752" cy="30175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3594" y="3086146"/>
            <a:ext cx="301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27341" y="4070909"/>
            <a:ext cx="124358" cy="124358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40142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43087" y="3359690"/>
            <a:ext cx="124358" cy="124358"/>
          </a:xfrm>
          <a:prstGeom prst="ellipse">
            <a:avLst/>
          </a:prstGeom>
          <a:solidFill>
            <a:srgbClr val="B9A6FF"/>
          </a:solidFill>
          <a:ln w="12700">
            <a:solidFill>
              <a:srgbClr val="B9A6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94297" y="3150593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316736" y="5971032"/>
            <a:ext cx="1929384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08176" y="5984748"/>
            <a:ext cx="1746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→ 56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15346" y="5980176"/>
            <a:ext cx="1929384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63712" y="6007608"/>
            <a:ext cx="1746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→ 51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CONSISTENT HASHING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Виртуальные узлы выравнивают нагрузку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</a:t>
            </a:r>
            <a:r>
              <a:rPr lang="ru-RU" sz="1500" dirty="0" smtClean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физический </a:t>
            </a:r>
            <a:r>
              <a:rPr lang="en-US" sz="1500" dirty="0" smtClean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 </a:t>
            </a:r>
            <a:r>
              <a:rPr lang="en-US" sz="15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может иметь несколько позиций на кольце</a:t>
            </a: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Согласованное хеширование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1325880" y="2331720"/>
            <a:ext cx="3200400" cy="3200400"/>
          </a:xfrm>
          <a:prstGeom prst="ellipse">
            <a:avLst/>
          </a:prstGeom>
          <a:solidFill>
            <a:srgbClr val="081622">
              <a:alpha val="0"/>
            </a:srgbClr>
          </a:solidFill>
          <a:ln w="29210">
            <a:solidFill>
              <a:srgbClr val="3A66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570" y="2270648"/>
            <a:ext cx="365760" cy="365760"/>
          </a:xfrm>
          <a:prstGeom prst="ellipse">
            <a:avLst/>
          </a:prstGeom>
          <a:solidFill>
            <a:srgbClr val="78C8FF"/>
          </a:solidFill>
          <a:ln w="12700">
            <a:solidFill>
              <a:srgbClr val="78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3858" y="22980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73718" y="2860017"/>
            <a:ext cx="365760" cy="365760"/>
          </a:xfrm>
          <a:prstGeom prst="ellipse">
            <a:avLst/>
          </a:prstGeom>
          <a:solidFill>
            <a:srgbClr val="39DFBF"/>
          </a:solidFill>
          <a:ln w="12700">
            <a:solidFill>
              <a:srgbClr val="39D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92006" y="2887449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74496" y="4213554"/>
            <a:ext cx="365760" cy="365760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2784" y="424098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58356" y="4986011"/>
            <a:ext cx="365760" cy="365760"/>
          </a:xfrm>
          <a:prstGeom prst="ellipse">
            <a:avLst/>
          </a:prstGeom>
          <a:solidFill>
            <a:srgbClr val="78C8FF"/>
          </a:solidFill>
          <a:ln w="12700">
            <a:solidFill>
              <a:srgbClr val="78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76644" y="5013443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31016" y="5318493"/>
            <a:ext cx="365760" cy="365760"/>
          </a:xfrm>
          <a:prstGeom prst="ellipse">
            <a:avLst/>
          </a:prstGeom>
          <a:solidFill>
            <a:srgbClr val="39DFBF"/>
          </a:solidFill>
          <a:ln w="12700">
            <a:solidFill>
              <a:srgbClr val="39D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9304" y="5345925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506229" y="4764196"/>
            <a:ext cx="365760" cy="365760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24517" y="47916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43000" y="3749040"/>
            <a:ext cx="365760" cy="365760"/>
          </a:xfrm>
          <a:prstGeom prst="ellipse">
            <a:avLst/>
          </a:prstGeom>
          <a:solidFill>
            <a:srgbClr val="78C8FF"/>
          </a:solidFill>
          <a:ln w="12700">
            <a:solidFill>
              <a:srgbClr val="78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" y="377647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506229" y="2733884"/>
            <a:ext cx="365760" cy="365760"/>
          </a:xfrm>
          <a:prstGeom prst="ellipse">
            <a:avLst/>
          </a:prstGeom>
          <a:solidFill>
            <a:srgbClr val="39DFBF"/>
          </a:solidFill>
          <a:ln w="12700">
            <a:solidFill>
              <a:srgbClr val="39D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24517" y="27613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78686" y="2217744"/>
            <a:ext cx="365760" cy="365760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96974" y="224517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71032" y="2596896"/>
            <a:ext cx="886968" cy="914400"/>
          </a:xfrm>
          <a:prstGeom prst="roundRect">
            <a:avLst>
              <a:gd name="adj" fmla="val 11340"/>
            </a:avLst>
          </a:prstGeom>
          <a:solidFill>
            <a:srgbClr val="153345"/>
          </a:solidFill>
          <a:ln w="12700">
            <a:solidFill>
              <a:srgbClr val="78C8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08192" y="2825496"/>
            <a:ext cx="612648" cy="0"/>
          </a:xfrm>
          <a:prstGeom prst="line">
            <a:avLst/>
          </a:prstGeom>
          <a:noFill/>
          <a:ln w="15240">
            <a:solidFill>
              <a:srgbClr val="78C8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08192" y="3035808"/>
            <a:ext cx="612648" cy="0"/>
          </a:xfrm>
          <a:prstGeom prst="line">
            <a:avLst/>
          </a:prstGeom>
          <a:noFill/>
          <a:ln w="15240">
            <a:solidFill>
              <a:srgbClr val="78C8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92647" y="3175711"/>
            <a:ext cx="67666" cy="67666"/>
          </a:xfrm>
          <a:prstGeom prst="ellipse">
            <a:avLst/>
          </a:prstGeom>
          <a:solidFill>
            <a:srgbClr val="78C8FF"/>
          </a:solidFill>
          <a:ln w="12700">
            <a:solidFill>
              <a:srgbClr val="78C8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3602736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644384" y="2596896"/>
            <a:ext cx="886968" cy="914400"/>
          </a:xfrm>
          <a:prstGeom prst="roundRect">
            <a:avLst>
              <a:gd name="adj" fmla="val 11340"/>
            </a:avLst>
          </a:prstGeom>
          <a:solidFill>
            <a:srgbClr val="153345"/>
          </a:solidFill>
          <a:ln w="12700">
            <a:solidFill>
              <a:srgbClr val="39DF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81544" y="2825496"/>
            <a:ext cx="612648" cy="0"/>
          </a:xfrm>
          <a:prstGeom prst="line">
            <a:avLst/>
          </a:prstGeom>
          <a:noFill/>
          <a:ln w="15240">
            <a:solidFill>
              <a:srgbClr val="39DF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81544" y="3035808"/>
            <a:ext cx="612648" cy="0"/>
          </a:xfrm>
          <a:prstGeom prst="line">
            <a:avLst/>
          </a:prstGeom>
          <a:noFill/>
          <a:ln w="15240">
            <a:solidFill>
              <a:srgbClr val="39DF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65999" y="3175711"/>
            <a:ext cx="67666" cy="67666"/>
          </a:xfrm>
          <a:prstGeom prst="ellipse">
            <a:avLst/>
          </a:prstGeom>
          <a:solidFill>
            <a:srgbClr val="39DFBF"/>
          </a:solidFill>
          <a:ln w="12700">
            <a:solidFill>
              <a:srgbClr val="39DFB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62672" y="3602736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317736" y="2596896"/>
            <a:ext cx="886968" cy="914400"/>
          </a:xfrm>
          <a:prstGeom prst="roundRect">
            <a:avLst>
              <a:gd name="adj" fmla="val 11340"/>
            </a:avLst>
          </a:prstGeom>
          <a:solidFill>
            <a:srgbClr val="153345"/>
          </a:solidFill>
          <a:ln w="12700">
            <a:solidFill>
              <a:srgbClr val="FFBF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54896" y="2825496"/>
            <a:ext cx="612648" cy="0"/>
          </a:xfrm>
          <a:prstGeom prst="line">
            <a:avLst/>
          </a:prstGeom>
          <a:noFill/>
          <a:ln w="15240">
            <a:solidFill>
              <a:srgbClr val="FFBF7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54896" y="3035808"/>
            <a:ext cx="612648" cy="0"/>
          </a:xfrm>
          <a:prstGeom prst="line">
            <a:avLst/>
          </a:prstGeom>
          <a:noFill/>
          <a:ln w="15240">
            <a:solidFill>
              <a:srgbClr val="FFBF7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39351" y="3175711"/>
            <a:ext cx="67666" cy="67666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36024" y="3602736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696712" y="4279392"/>
            <a:ext cx="5248656" cy="1252728"/>
          </a:xfrm>
          <a:prstGeom prst="roundRect">
            <a:avLst>
              <a:gd name="adj" fmla="val 10949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53328" y="4453128"/>
            <a:ext cx="46908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ru-RU" sz="2000" dirty="0" smtClean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Больше</a:t>
            </a:r>
            <a:r>
              <a:rPr lang="en-US" sz="2000" dirty="0" smtClean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0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позиций → более ровные доли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053328" y="5001768"/>
            <a:ext cx="4681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Мощным серверам можно назначать больше vnode.</a:t>
            </a:r>
            <a:endParaRPr lang="en-US" sz="14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РАСПРЕДЕЛЁННЫЕ ХЕШ-ТАБЛИЦЫ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900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DHT: кто хранит ключ и как до него добраться?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DHT добавляет к размещению данных распределённую маршрутизацию.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DHT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 flipV="1">
            <a:off x="1828800" y="2322576"/>
            <a:ext cx="1234440" cy="585216"/>
          </a:xfrm>
          <a:prstGeom prst="line">
            <a:avLst/>
          </a:prstGeom>
          <a:noFill/>
          <a:ln w="25400">
            <a:solidFill>
              <a:srgbClr val="245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2907792"/>
            <a:ext cx="137160" cy="1847088"/>
          </a:xfrm>
          <a:prstGeom prst="line">
            <a:avLst/>
          </a:prstGeom>
          <a:noFill/>
          <a:ln w="25400">
            <a:solidFill>
              <a:srgbClr val="2451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3240" y="2359152"/>
            <a:ext cx="704088" cy="1481328"/>
          </a:xfrm>
          <a:prstGeom prst="line">
            <a:avLst/>
          </a:prstGeom>
          <a:noFill/>
          <a:ln w="25400">
            <a:solidFill>
              <a:srgbClr val="245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2359152"/>
            <a:ext cx="1691640" cy="512064"/>
          </a:xfrm>
          <a:prstGeom prst="line">
            <a:avLst/>
          </a:prstGeom>
          <a:noFill/>
          <a:ln w="25400">
            <a:solidFill>
              <a:srgbClr val="2451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1965960" y="3840480"/>
            <a:ext cx="1801368" cy="914400"/>
          </a:xfrm>
          <a:prstGeom prst="line">
            <a:avLst/>
          </a:prstGeom>
          <a:noFill/>
          <a:ln w="25400">
            <a:solidFill>
              <a:srgbClr val="245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67328" y="3840480"/>
            <a:ext cx="1170432" cy="758952"/>
          </a:xfrm>
          <a:prstGeom prst="line">
            <a:avLst/>
          </a:prstGeom>
          <a:noFill/>
          <a:ln w="25400">
            <a:solidFill>
              <a:srgbClr val="245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871216"/>
            <a:ext cx="182880" cy="1728216"/>
          </a:xfrm>
          <a:prstGeom prst="line">
            <a:avLst/>
          </a:prstGeom>
          <a:noFill/>
          <a:ln w="25400">
            <a:solidFill>
              <a:srgbClr val="245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63624" y="2642616"/>
            <a:ext cx="530352" cy="530352"/>
          </a:xfrm>
          <a:prstGeom prst="ellipse">
            <a:avLst/>
          </a:prstGeom>
          <a:solidFill>
            <a:srgbClr val="78C8FF"/>
          </a:solidFill>
          <a:ln w="17780">
            <a:solidFill>
              <a:srgbClr val="78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27340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98064" y="2093976"/>
            <a:ext cx="530352" cy="530352"/>
          </a:xfrm>
          <a:prstGeom prst="ellipse">
            <a:avLst/>
          </a:prstGeom>
          <a:solidFill>
            <a:srgbClr val="78C8FF"/>
          </a:solidFill>
          <a:ln w="17780">
            <a:solidFill>
              <a:srgbClr val="78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21854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502152" y="3575304"/>
            <a:ext cx="530352" cy="530352"/>
          </a:xfrm>
          <a:prstGeom prst="ellipse">
            <a:avLst/>
          </a:prstGeom>
          <a:solidFill>
            <a:srgbClr val="78C8FF"/>
          </a:solidFill>
          <a:ln w="17780">
            <a:solidFill>
              <a:srgbClr val="78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8728" y="36667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700784" y="4489704"/>
            <a:ext cx="530352" cy="530352"/>
          </a:xfrm>
          <a:prstGeom prst="ellipse">
            <a:avLst/>
          </a:prstGeom>
          <a:solidFill>
            <a:srgbClr val="78C8FF"/>
          </a:solidFill>
          <a:ln w="17780">
            <a:solidFill>
              <a:srgbClr val="78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45811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489704" y="2606040"/>
            <a:ext cx="530352" cy="530352"/>
          </a:xfrm>
          <a:prstGeom prst="ellipse">
            <a:avLst/>
          </a:prstGeom>
          <a:solidFill>
            <a:srgbClr val="39DFBF"/>
          </a:solidFill>
          <a:ln w="17780">
            <a:solidFill>
              <a:srgbClr val="39D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26974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72584" y="4334256"/>
            <a:ext cx="530352" cy="530352"/>
          </a:xfrm>
          <a:prstGeom prst="ellipse">
            <a:avLst/>
          </a:prstGeom>
          <a:solidFill>
            <a:srgbClr val="78C8FF"/>
          </a:solidFill>
          <a:ln w="17780">
            <a:solidFill>
              <a:srgbClr val="78C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44256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961888" y="1938528"/>
            <a:ext cx="5385816" cy="3566160"/>
          </a:xfrm>
          <a:prstGeom prst="roundRect">
            <a:avLst>
              <a:gd name="adj" fmla="val 4615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2185416"/>
            <a:ext cx="4773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Распределённая хеш-таблица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300216" y="2916936"/>
            <a:ext cx="2029968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91656" y="2930652"/>
            <a:ext cx="1847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put(key, value)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622792" y="2916936"/>
            <a:ext cx="1746504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14232" y="2930652"/>
            <a:ext cx="1563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get(key)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09360" y="3776472"/>
            <a:ext cx="445312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участник знает не всю сеть, а лишь часть контактов.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309360" y="4672584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Запрос проходит через оверлей до ответственного узла.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CHORD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dirty="0">
                <a:solidFill>
                  <a:srgbClr val="F7FCFF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Chord: </a:t>
            </a:r>
            <a:r>
              <a:rPr lang="ru-RU" sz="3200" dirty="0" smtClean="0">
                <a:solidFill>
                  <a:srgbClr val="F7FCFF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поиск узла</a:t>
            </a:r>
            <a:r>
              <a:rPr lang="en-US" sz="3200" dirty="0" smtClean="0">
                <a:solidFill>
                  <a:srgbClr val="F7FCFF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 </a:t>
            </a:r>
            <a:r>
              <a:rPr lang="en-US" sz="3200" dirty="0">
                <a:solidFill>
                  <a:srgbClr val="F7FCFF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на </a:t>
            </a:r>
            <a:r>
              <a:rPr lang="en-US" sz="3200" dirty="0" smtClean="0">
                <a:solidFill>
                  <a:srgbClr val="F7FCFF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хеш-к</a:t>
            </a:r>
            <a:r>
              <a:rPr lang="ru-RU" sz="3200" dirty="0" smtClean="0">
                <a:solidFill>
                  <a:srgbClr val="F7FCFF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оль</a:t>
            </a:r>
            <a:r>
              <a:rPr lang="en-US" sz="3200" dirty="0" smtClean="0">
                <a:solidFill>
                  <a:srgbClr val="F7FCFF"/>
                </a:solidFill>
                <a:latin typeface="+mj-lt"/>
                <a:ea typeface="Inter Display" pitchFamily="34" charset="-122"/>
                <a:cs typeface="Inter Display" pitchFamily="34" charset="-120"/>
              </a:rPr>
              <a:t>це</a:t>
            </a:r>
            <a:endParaRPr lang="en-US" sz="32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Вместо списка всех участников: successor, predecessor и finger table.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Chord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1545336" y="2221992"/>
            <a:ext cx="3346704" cy="3346704"/>
          </a:xfrm>
          <a:prstGeom prst="ellipse">
            <a:avLst/>
          </a:prstGeom>
          <a:solidFill>
            <a:srgbClr val="081622">
              <a:alpha val="0"/>
            </a:srgbClr>
          </a:solidFill>
          <a:ln w="34290">
            <a:solidFill>
              <a:srgbClr val="3A66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184708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05456" y="3739896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ID: 0–63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62456" y="2152772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62456" y="2161916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05331" y="2515509"/>
            <a:ext cx="393192" cy="393192"/>
          </a:xfrm>
          <a:prstGeom prst="ellipse">
            <a:avLst/>
          </a:prstGeom>
          <a:solidFill>
            <a:srgbClr val="39DFBF"/>
          </a:solidFill>
          <a:ln w="16510">
            <a:solidFill>
              <a:srgbClr val="39D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5331" y="2524653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291" y="3372293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291" y="3381437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97857" y="4487561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7857" y="4496705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22092" y="5372100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22092" y="5381244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92427" y="5090089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92427" y="5099233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630751" y="4628413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30751" y="4637557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48740" y="3698748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8740" y="3707892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420794" y="3213000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20794" y="3222144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838853" y="2515509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38853" y="2524653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71616" y="1883664"/>
            <a:ext cx="5230368" cy="3611880"/>
          </a:xfrm>
          <a:prstGeom prst="roundRect">
            <a:avLst>
              <a:gd name="adj" fmla="val 4304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23076" y="2217420"/>
            <a:ext cx="192024" cy="192024"/>
          </a:xfrm>
          <a:prstGeom prst="ellipse">
            <a:avLst/>
          </a:prstGeom>
          <a:solidFill>
            <a:srgbClr val="39DFBF"/>
          </a:solidFill>
          <a:ln w="12700">
            <a:solidFill>
              <a:srgbClr val="39DFB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11696" y="2130552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successor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720840" y="2542032"/>
            <a:ext cx="4087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2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ближайший следующий узел</a:t>
            </a:r>
            <a:endParaRPr lang="en-US" sz="1420" dirty="0"/>
          </a:p>
        </p:txBody>
      </p:sp>
      <p:sp>
        <p:nvSpPr>
          <p:cNvPr id="38" name="Shape 36"/>
          <p:cNvSpPr/>
          <p:nvPr/>
        </p:nvSpPr>
        <p:spPr>
          <a:xfrm>
            <a:off x="6323076" y="3186684"/>
            <a:ext cx="192024" cy="192024"/>
          </a:xfrm>
          <a:prstGeom prst="ellipse">
            <a:avLst/>
          </a:prstGeom>
          <a:solidFill>
            <a:srgbClr val="78C8FF"/>
          </a:solidFill>
          <a:ln w="12700">
            <a:solidFill>
              <a:srgbClr val="78C8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1696" y="3099816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predecessor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720840" y="3511296"/>
            <a:ext cx="4087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2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ближайший предыдущий</a:t>
            </a:r>
            <a:endParaRPr lang="en-US" sz="1420" dirty="0"/>
          </a:p>
        </p:txBody>
      </p:sp>
      <p:sp>
        <p:nvSpPr>
          <p:cNvPr id="41" name="Shape 39"/>
          <p:cNvSpPr/>
          <p:nvPr/>
        </p:nvSpPr>
        <p:spPr>
          <a:xfrm>
            <a:off x="6323076" y="4155948"/>
            <a:ext cx="192024" cy="192024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11696" y="4069080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finger table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720840" y="4480560"/>
            <a:ext cx="4087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2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дальние переходы по кольцу</a:t>
            </a:r>
            <a:endParaRPr lang="en-US" sz="1420" dirty="0"/>
          </a:p>
        </p:txBody>
      </p:sp>
      <p:sp>
        <p:nvSpPr>
          <p:cNvPr id="44" name="Text 42"/>
          <p:cNvSpPr/>
          <p:nvPr/>
        </p:nvSpPr>
        <p:spPr>
          <a:xfrm>
            <a:off x="6327648" y="5806440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Только successor: до O(N) переходов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CHORD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Finger table узла 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Смещения 1, 2, 4, 8, 16, 32 ведут к узлам всё дальше по кольцу.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Chord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722376" y="1901952"/>
            <a:ext cx="6492240" cy="4251960"/>
          </a:xfrm>
          <a:prstGeom prst="roundRect">
            <a:avLst>
              <a:gd name="adj" fmla="val 3656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16712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21671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= 8 + 2^(</a:t>
            </a:r>
            <a:r>
              <a:rPr lang="en-US" sz="1400" b="1" dirty="0" err="1" smtClean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</a:t>
            </a:r>
            <a:r>
              <a:rPr lang="ru-RU" sz="1400" b="1" dirty="0" smtClean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r>
              <a:rPr lang="en-US" sz="1400" b="1" dirty="0" smtClean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r>
              <a:rPr lang="en-US" sz="14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59552" y="216712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finger[i]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14984" y="2633472"/>
            <a:ext cx="5788152" cy="0"/>
          </a:xfrm>
          <a:prstGeom prst="line">
            <a:avLst/>
          </a:prstGeom>
          <a:noFill/>
          <a:ln w="15240">
            <a:solidFill>
              <a:srgbClr val="245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6696" y="2706624"/>
            <a:ext cx="5833872" cy="448056"/>
          </a:xfrm>
          <a:prstGeom prst="roundRect">
            <a:avLst>
              <a:gd name="adj" fmla="val 10204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97864" y="276148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32304" y="276148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605272" y="2720340"/>
            <a:ext cx="896112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96712" y="2734056"/>
            <a:ext cx="713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97864" y="3255264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32304" y="3255264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05272" y="3214116"/>
            <a:ext cx="896112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96712" y="3227832"/>
            <a:ext cx="713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96696" y="3694176"/>
            <a:ext cx="5833872" cy="448056"/>
          </a:xfrm>
          <a:prstGeom prst="roundRect">
            <a:avLst>
              <a:gd name="adj" fmla="val 10204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97864" y="3749040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432304" y="37490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605272" y="3707892"/>
            <a:ext cx="896112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96712" y="3721608"/>
            <a:ext cx="713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97864" y="4242816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432304" y="4242816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605272" y="4201668"/>
            <a:ext cx="896112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96712" y="4215384"/>
            <a:ext cx="713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96696" y="4681728"/>
            <a:ext cx="5833872" cy="448056"/>
          </a:xfrm>
          <a:prstGeom prst="roundRect">
            <a:avLst>
              <a:gd name="adj" fmla="val 10204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97864" y="4736592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432304" y="4736592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5605272" y="4695444"/>
            <a:ext cx="896112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96712" y="4709160"/>
            <a:ext cx="713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97864" y="5230368"/>
            <a:ext cx="466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432304" y="523036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5605272" y="5189220"/>
            <a:ext cx="896112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96712" y="5202936"/>
            <a:ext cx="7132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516368" y="2404872"/>
            <a:ext cx="3611880" cy="2587752"/>
          </a:xfrm>
          <a:prstGeom prst="roundRect">
            <a:avLst>
              <a:gd name="adj" fmla="val 6360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72984" y="2679192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Формула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891272" y="3282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finger[i] =</a:t>
            </a:r>
            <a:endParaRPr lang="en-US" sz="2300" dirty="0"/>
          </a:p>
        </p:txBody>
      </p:sp>
      <p:sp>
        <p:nvSpPr>
          <p:cNvPr id="46" name="Text 44"/>
          <p:cNvSpPr/>
          <p:nvPr/>
        </p:nvSpPr>
        <p:spPr>
          <a:xfrm>
            <a:off x="7891272" y="3749040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successor(8 + 2^(i−1))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7507224" y="5468112"/>
            <a:ext cx="37581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записей вместо знания всех 10 узлов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CHORD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Поиск ключа 54: 8 → 42 → 51 → 56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каждом шаге выбираем самый дальний finger до цели.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Chord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1938528" y="2075688"/>
            <a:ext cx="3657600" cy="3657600"/>
          </a:xfrm>
          <a:prstGeom prst="ellipse">
            <a:avLst/>
          </a:prstGeom>
          <a:solidFill>
            <a:srgbClr val="081622">
              <a:alpha val="0"/>
            </a:srgbClr>
          </a:solidFill>
          <a:ln w="34290">
            <a:solidFill>
              <a:srgbClr val="3A66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17007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H="1">
            <a:off x="2388453" y="2611331"/>
            <a:ext cx="2672032" cy="2111710"/>
          </a:xfrm>
          <a:prstGeom prst="line">
            <a:avLst/>
          </a:prstGeom>
          <a:noFill/>
          <a:ln w="38100">
            <a:solidFill>
              <a:srgbClr val="FFBF78"/>
            </a:solidFill>
            <a:prstDash val="dash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46736" y="4920515"/>
            <a:ext cx="0" cy="0"/>
          </a:xfrm>
          <a:prstGeom prst="line">
            <a:avLst/>
          </a:prstGeom>
          <a:noFill/>
          <a:ln w="38100">
            <a:solidFill>
              <a:srgbClr val="39DFBF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70583" y="2018301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0583" y="2027445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63889" y="2414735"/>
            <a:ext cx="393192" cy="393192"/>
          </a:xfrm>
          <a:prstGeom prst="ellipse">
            <a:avLst/>
          </a:prstGeom>
          <a:solidFill>
            <a:srgbClr val="39DFBF"/>
          </a:solidFill>
          <a:ln w="16510">
            <a:solidFill>
              <a:srgbClr val="39D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3889" y="2423879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64392" y="3351111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64392" y="3360255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83590" y="4569982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3590" y="4579126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70732" y="5536692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70732" y="5545836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54705" y="5228484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54705" y="5237628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050140" y="4723919"/>
            <a:ext cx="393192" cy="393192"/>
          </a:xfrm>
          <a:prstGeom prst="ellipse">
            <a:avLst/>
          </a:prstGeom>
          <a:solidFill>
            <a:srgbClr val="39DFBF"/>
          </a:solidFill>
          <a:ln w="16510">
            <a:solidFill>
              <a:srgbClr val="39D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0140" y="4733063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741932" y="3707892"/>
            <a:ext cx="393192" cy="393192"/>
          </a:xfrm>
          <a:prstGeom prst="ellipse">
            <a:avLst/>
          </a:prstGeom>
          <a:solidFill>
            <a:srgbClr val="78C8FF"/>
          </a:solidFill>
          <a:ln w="16510">
            <a:solidFill>
              <a:srgbClr val="78C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41932" y="3717036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20680" y="3177019"/>
            <a:ext cx="393192" cy="393192"/>
          </a:xfrm>
          <a:prstGeom prst="ellipse">
            <a:avLst/>
          </a:prstGeom>
          <a:solidFill>
            <a:srgbClr val="39DFBF"/>
          </a:solidFill>
          <a:ln w="16510">
            <a:solidFill>
              <a:srgbClr val="39D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0680" y="3186163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77575" y="2414735"/>
            <a:ext cx="393192" cy="393192"/>
          </a:xfrm>
          <a:prstGeom prst="ellipse">
            <a:avLst/>
          </a:prstGeom>
          <a:solidFill>
            <a:srgbClr val="39DFBF"/>
          </a:solidFill>
          <a:ln w="16510">
            <a:solidFill>
              <a:srgbClr val="39D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77575" y="2423879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173584" y="2815309"/>
            <a:ext cx="146304" cy="146304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52135" y="25613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10528" y="2029968"/>
            <a:ext cx="4663440" cy="3319272"/>
          </a:xfrm>
          <a:prstGeom prst="roundRect">
            <a:avLst>
              <a:gd name="adj" fmla="val 4683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93992" y="2377440"/>
            <a:ext cx="2350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→ 42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6812280" y="2761488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6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самый дальний finger перед 54</a:t>
            </a:r>
            <a:endParaRPr lang="en-US" sz="1360" dirty="0"/>
          </a:p>
        </p:txBody>
      </p:sp>
      <p:sp>
        <p:nvSpPr>
          <p:cNvPr id="42" name="Shape 40"/>
          <p:cNvSpPr/>
          <p:nvPr/>
        </p:nvSpPr>
        <p:spPr>
          <a:xfrm>
            <a:off x="6748272" y="3218688"/>
            <a:ext cx="4050792" cy="0"/>
          </a:xfrm>
          <a:prstGeom prst="line">
            <a:avLst/>
          </a:prstGeom>
          <a:noFill/>
          <a:ln w="12700">
            <a:solidFill>
              <a:srgbClr val="245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93992" y="3346704"/>
            <a:ext cx="2350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→ 51</a:t>
            </a:r>
            <a:endParaRPr lang="en-US" sz="2100" dirty="0"/>
          </a:p>
        </p:txBody>
      </p:sp>
      <p:sp>
        <p:nvSpPr>
          <p:cNvPr id="44" name="Text 42"/>
          <p:cNvSpPr/>
          <p:nvPr/>
        </p:nvSpPr>
        <p:spPr>
          <a:xfrm>
            <a:off x="6812280" y="3730752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6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следующая подходящая ссылка</a:t>
            </a:r>
            <a:endParaRPr lang="en-US" sz="1360" dirty="0"/>
          </a:p>
        </p:txBody>
      </p:sp>
      <p:sp>
        <p:nvSpPr>
          <p:cNvPr id="45" name="Shape 43"/>
          <p:cNvSpPr/>
          <p:nvPr/>
        </p:nvSpPr>
        <p:spPr>
          <a:xfrm>
            <a:off x="6748272" y="4187952"/>
            <a:ext cx="4050792" cy="0"/>
          </a:xfrm>
          <a:prstGeom prst="line">
            <a:avLst/>
          </a:prstGeom>
          <a:noFill/>
          <a:ln w="12700">
            <a:solidFill>
              <a:srgbClr val="2451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93992" y="4315968"/>
            <a:ext cx="2350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 → 56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6812280" y="4700016"/>
            <a:ext cx="3831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6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 ∈ (51, 56]</a:t>
            </a:r>
            <a:endParaRPr lang="en-US" sz="1360" dirty="0"/>
          </a:p>
        </p:txBody>
      </p:sp>
      <p:sp>
        <p:nvSpPr>
          <p:cNvPr id="48" name="Shape 46"/>
          <p:cNvSpPr/>
          <p:nvPr/>
        </p:nvSpPr>
        <p:spPr>
          <a:xfrm>
            <a:off x="6656832" y="5477256"/>
            <a:ext cx="4224528" cy="850392"/>
          </a:xfrm>
          <a:prstGeom prst="roundRect">
            <a:avLst>
              <a:gd name="adj" fmla="val 15054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03136" y="5586984"/>
            <a:ext cx="3941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300" dirty="0"/>
          </a:p>
        </p:txBody>
      </p:sp>
      <p:sp>
        <p:nvSpPr>
          <p:cNvPr id="50" name="Text 48"/>
          <p:cNvSpPr/>
          <p:nvPr/>
        </p:nvSpPr>
        <p:spPr>
          <a:xfrm>
            <a:off x="6803136" y="5961888"/>
            <a:ext cx="3941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перехода в этом примере</a:t>
            </a:r>
            <a:endParaRPr lang="en-US" sz="1250" dirty="0"/>
          </a:p>
        </p:txBody>
      </p:sp>
      <p:sp>
        <p:nvSpPr>
          <p:cNvPr id="51" name="Shape 12"/>
          <p:cNvSpPr/>
          <p:nvPr/>
        </p:nvSpPr>
        <p:spPr>
          <a:xfrm flipV="1">
            <a:off x="2246704" y="2824452"/>
            <a:ext cx="202224" cy="597165"/>
          </a:xfrm>
          <a:prstGeom prst="line">
            <a:avLst/>
          </a:prstGeom>
          <a:noFill/>
          <a:ln w="38100">
            <a:solidFill>
              <a:srgbClr val="FFBF78"/>
            </a:solidFill>
            <a:prstDash val="dash"/>
            <a:tailEnd type="triangle"/>
          </a:ln>
        </p:spPr>
      </p:sp>
      <p:sp>
        <p:nvSpPr>
          <p:cNvPr id="56" name="Shape 12"/>
          <p:cNvSpPr/>
          <p:nvPr/>
        </p:nvSpPr>
        <p:spPr>
          <a:xfrm flipH="1" flipV="1">
            <a:off x="2213871" y="3469861"/>
            <a:ext cx="155235" cy="1262322"/>
          </a:xfrm>
          <a:prstGeom prst="line">
            <a:avLst/>
          </a:prstGeom>
          <a:noFill/>
          <a:ln w="38100">
            <a:solidFill>
              <a:srgbClr val="FFBF78"/>
            </a:solidFill>
            <a:prstDash val="dash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054096" y="3749040"/>
            <a:ext cx="1426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ID: 0–63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CHORD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Сеть меняется — таблицы нужно поддерживать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Фоновые процедуры исправляют маршруты при входе и отказах узлов.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Chord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818388" y="2057400"/>
            <a:ext cx="5175504" cy="1152144"/>
          </a:xfrm>
          <a:prstGeom prst="roundRect">
            <a:avLst>
              <a:gd name="adj" fmla="val 11905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9556" y="2244852"/>
            <a:ext cx="173736" cy="173736"/>
          </a:xfrm>
          <a:prstGeom prst="ellipse">
            <a:avLst/>
          </a:prstGeom>
          <a:solidFill>
            <a:srgbClr val="39DFBF"/>
          </a:solidFill>
          <a:ln w="12700">
            <a:solidFill>
              <a:srgbClr val="39DFB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44168" y="2221992"/>
            <a:ext cx="4142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stabilize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62456" y="2679192"/>
            <a:ext cx="4361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2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проверяет successor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6309360" y="2057400"/>
            <a:ext cx="5175504" cy="1152144"/>
          </a:xfrm>
          <a:prstGeom prst="roundRect">
            <a:avLst>
              <a:gd name="adj" fmla="val 11905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5956" y="2244852"/>
            <a:ext cx="173736" cy="173736"/>
          </a:xfrm>
          <a:prstGeom prst="ellipse">
            <a:avLst/>
          </a:prstGeom>
          <a:solidFill>
            <a:srgbClr val="78C8FF"/>
          </a:solidFill>
          <a:ln w="12700">
            <a:solidFill>
              <a:srgbClr val="78C8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0568" y="2221992"/>
            <a:ext cx="4142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848856" y="2679192"/>
            <a:ext cx="4361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2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помогает обновить predecessor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822960" y="3456432"/>
            <a:ext cx="5175504" cy="1152144"/>
          </a:xfrm>
          <a:prstGeom prst="roundRect">
            <a:avLst>
              <a:gd name="adj" fmla="val 11905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9556" y="3643884"/>
            <a:ext cx="173736" cy="173736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44168" y="3621024"/>
            <a:ext cx="4142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fix_fingers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362456" y="4078224"/>
            <a:ext cx="4361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2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пересчитывает переходы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6309360" y="3456432"/>
            <a:ext cx="5175504" cy="1152144"/>
          </a:xfrm>
          <a:prstGeom prst="roundRect">
            <a:avLst>
              <a:gd name="adj" fmla="val 11905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05956" y="3643884"/>
            <a:ext cx="173736" cy="173736"/>
          </a:xfrm>
          <a:prstGeom prst="ellipse">
            <a:avLst/>
          </a:prstGeom>
          <a:solidFill>
            <a:srgbClr val="B9A6FF"/>
          </a:solidFill>
          <a:ln w="12700">
            <a:solidFill>
              <a:srgbClr val="B9A6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0568" y="3621024"/>
            <a:ext cx="41422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check_predecessor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848856" y="4078224"/>
            <a:ext cx="4361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2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обнаруживает исчезновение соседа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859536" y="5221224"/>
            <a:ext cx="10552176" cy="758952"/>
          </a:xfrm>
          <a:prstGeom prst="roundRect">
            <a:avLst>
              <a:gd name="adj" fmla="val 18072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9576" y="5431536"/>
            <a:ext cx="4489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Ожидаемая сложность поиска: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92240" y="5330952"/>
            <a:ext cx="3822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O(log N)</a:t>
            </a:r>
            <a:endParaRPr lang="en-US" sz="2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KADEMLIA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900" dirty="0" smtClean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Kademlia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Узлы и ключи имеют ID одинаковой длины; расстояние d(a,b) = a XOR b.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Kademlia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786384" y="1901952"/>
            <a:ext cx="10625328" cy="2788920"/>
          </a:xfrm>
          <a:prstGeom prst="roundRect">
            <a:avLst>
              <a:gd name="adj" fmla="val 5574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185416"/>
            <a:ext cx="1984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8992" y="2752344"/>
            <a:ext cx="2999232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2766060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 = </a:t>
            </a:r>
            <a:r>
              <a:rPr lang="en-US" sz="1700" dirty="0" smtClean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110110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2185416"/>
            <a:ext cx="2916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Кандидат 51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0" y="2766060"/>
            <a:ext cx="2971800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2766060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 = </a:t>
            </a:r>
            <a:r>
              <a:rPr lang="en-US" sz="1700" dirty="0" smtClean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110011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36992" y="2185416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Кандидат 56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64424" y="2752344"/>
            <a:ext cx="2953512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55864" y="2766060"/>
            <a:ext cx="27706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 = </a:t>
            </a:r>
            <a:r>
              <a:rPr lang="en-US" sz="1700" dirty="0" smtClean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111000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179576" y="3694176"/>
            <a:ext cx="9866376" cy="0"/>
          </a:xfrm>
          <a:prstGeom prst="line">
            <a:avLst/>
          </a:prstGeom>
          <a:noFill/>
          <a:ln w="12700">
            <a:solidFill>
              <a:srgbClr val="245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895344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 XOR 51 = </a:t>
            </a:r>
            <a:r>
              <a:rPr lang="en-US" sz="2000" b="1" dirty="0" smtClean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000101 </a:t>
            </a:r>
            <a:r>
              <a:rPr lang="en-US" sz="20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73952" y="3895344"/>
            <a:ext cx="4334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 XOR 56 = </a:t>
            </a:r>
            <a:r>
              <a:rPr lang="en-US" sz="2000" dirty="0" smtClean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001110= </a:t>
            </a:r>
            <a:r>
              <a:rPr lang="en-US" sz="2000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23544" y="4965192"/>
            <a:ext cx="10332720" cy="905256"/>
          </a:xfrm>
          <a:prstGeom prst="roundRect">
            <a:avLst>
              <a:gd name="adj" fmla="val 13131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71016" y="5184648"/>
            <a:ext cx="9793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Ключ 54 ближе к 51 по XOR, хотя в Chord successor(54) = 56.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16"/>
          <p:cNvSpPr/>
          <p:nvPr/>
        </p:nvSpPr>
        <p:spPr>
          <a:xfrm flipH="1">
            <a:off x="1088136" y="3708712"/>
            <a:ext cx="0" cy="726127"/>
          </a:xfrm>
          <a:prstGeom prst="line">
            <a:avLst/>
          </a:prstGeom>
          <a:noFill/>
          <a:ln w="21590">
            <a:solidFill>
              <a:srgbClr val="245166"/>
            </a:solidFill>
            <a:prstDash val="solid"/>
          </a:ln>
        </p:spPr>
      </p:sp>
      <p:sp>
        <p:nvSpPr>
          <p:cNvPr id="51" name="Shape 16"/>
          <p:cNvSpPr/>
          <p:nvPr/>
        </p:nvSpPr>
        <p:spPr>
          <a:xfrm flipH="1">
            <a:off x="4142232" y="3780692"/>
            <a:ext cx="0" cy="654148"/>
          </a:xfrm>
          <a:prstGeom prst="line">
            <a:avLst/>
          </a:prstGeom>
          <a:noFill/>
          <a:ln w="21590">
            <a:solidFill>
              <a:srgbClr val="245166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KADEMLIA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F7FCFF"/>
                </a:solidFill>
                <a:latin typeface="Inter"/>
                <a:ea typeface="Inter"/>
                <a:cs typeface="Inter Display" pitchFamily="34" charset="-120"/>
              </a:rPr>
              <a:t>Префиксы ID и k-buckets</a:t>
            </a:r>
            <a:endParaRPr lang="en-US" sz="2800" dirty="0">
              <a:latin typeface="Inter"/>
              <a:ea typeface="Inter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Чем длиннее совпадающий старший префикс, тем ближе ID по XOR.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Kademlia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 flipH="1">
            <a:off x="2176272" y="2359152"/>
            <a:ext cx="1161288" cy="301752"/>
          </a:xfrm>
          <a:prstGeom prst="line">
            <a:avLst/>
          </a:prstGeom>
          <a:noFill/>
          <a:ln w="21590">
            <a:solidFill>
              <a:srgbClr val="245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359152"/>
            <a:ext cx="1554480" cy="356616"/>
          </a:xfrm>
          <a:prstGeom prst="line">
            <a:avLst/>
          </a:prstGeom>
          <a:noFill/>
          <a:ln w="21590">
            <a:solidFill>
              <a:srgbClr val="2451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1133856" y="2962656"/>
            <a:ext cx="694944" cy="493776"/>
          </a:xfrm>
          <a:prstGeom prst="line">
            <a:avLst/>
          </a:prstGeom>
          <a:noFill/>
          <a:ln w="21590">
            <a:solidFill>
              <a:srgbClr val="245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3017520"/>
            <a:ext cx="749808" cy="502920"/>
          </a:xfrm>
          <a:prstGeom prst="line">
            <a:avLst/>
          </a:prstGeom>
          <a:noFill/>
          <a:ln w="21590">
            <a:solidFill>
              <a:srgbClr val="2451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4142232" y="3017520"/>
            <a:ext cx="749808" cy="452629"/>
          </a:xfrm>
          <a:prstGeom prst="line">
            <a:avLst/>
          </a:prstGeom>
          <a:noFill/>
          <a:ln w="21590">
            <a:solidFill>
              <a:srgbClr val="245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3017520"/>
            <a:ext cx="758952" cy="502920"/>
          </a:xfrm>
          <a:prstGeom prst="line">
            <a:avLst/>
          </a:prstGeom>
          <a:noFill/>
          <a:ln w="21590">
            <a:solidFill>
              <a:srgbClr val="245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78608" y="3822192"/>
            <a:ext cx="0" cy="612648"/>
          </a:xfrm>
          <a:prstGeom prst="line">
            <a:avLst/>
          </a:prstGeom>
          <a:noFill/>
          <a:ln w="21590">
            <a:solidFill>
              <a:srgbClr val="245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5056632" y="3822192"/>
            <a:ext cx="594360" cy="612648"/>
          </a:xfrm>
          <a:prstGeom prst="line">
            <a:avLst/>
          </a:prstGeom>
          <a:noFill/>
          <a:ln w="21590">
            <a:solidFill>
              <a:srgbClr val="245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50992" y="3822192"/>
            <a:ext cx="585216" cy="612648"/>
          </a:xfrm>
          <a:prstGeom prst="line">
            <a:avLst/>
          </a:prstGeom>
          <a:noFill/>
          <a:ln w="21590">
            <a:solidFill>
              <a:srgbClr val="2451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1993392"/>
            <a:ext cx="731520" cy="438912"/>
          </a:xfrm>
          <a:prstGeom prst="roundRect">
            <a:avLst>
              <a:gd name="adj" fmla="val 22917"/>
            </a:avLst>
          </a:prstGeom>
          <a:solidFill>
            <a:srgbClr val="153345"/>
          </a:solidFill>
          <a:ln w="12700">
            <a:solidFill>
              <a:srgbClr val="245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0088" y="205740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корень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63040" y="2651760"/>
            <a:ext cx="731520" cy="438912"/>
          </a:xfrm>
          <a:prstGeom prst="roundRect">
            <a:avLst>
              <a:gd name="adj" fmla="val 22917"/>
            </a:avLst>
          </a:prstGeom>
          <a:solidFill>
            <a:srgbClr val="153345"/>
          </a:solidFill>
          <a:ln w="12700">
            <a:solidFill>
              <a:srgbClr val="245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81328" y="2715768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4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340" dirty="0"/>
          </a:p>
        </p:txBody>
      </p:sp>
      <p:sp>
        <p:nvSpPr>
          <p:cNvPr id="24" name="Shape 22"/>
          <p:cNvSpPr/>
          <p:nvPr/>
        </p:nvSpPr>
        <p:spPr>
          <a:xfrm>
            <a:off x="4526280" y="2651760"/>
            <a:ext cx="731520" cy="438912"/>
          </a:xfrm>
          <a:prstGeom prst="roundRect">
            <a:avLst>
              <a:gd name="adj" fmla="val 22917"/>
            </a:avLst>
          </a:prstGeom>
          <a:solidFill>
            <a:srgbClr val="153345"/>
          </a:solidFill>
          <a:ln w="12700">
            <a:solidFill>
              <a:srgbClr val="245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44568" y="2715768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4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40" dirty="0"/>
          </a:p>
        </p:txBody>
      </p:sp>
      <p:sp>
        <p:nvSpPr>
          <p:cNvPr id="26" name="Shape 24"/>
          <p:cNvSpPr/>
          <p:nvPr/>
        </p:nvSpPr>
        <p:spPr>
          <a:xfrm>
            <a:off x="722376" y="3456432"/>
            <a:ext cx="731520" cy="438912"/>
          </a:xfrm>
          <a:prstGeom prst="roundRect">
            <a:avLst>
              <a:gd name="adj" fmla="val 22917"/>
            </a:avLst>
          </a:prstGeom>
          <a:solidFill>
            <a:srgbClr val="153345"/>
          </a:solidFill>
          <a:ln w="12700">
            <a:solidFill>
              <a:srgbClr val="245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352044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4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</a:t>
            </a:r>
            <a:endParaRPr lang="en-US" sz="1340" dirty="0"/>
          </a:p>
        </p:txBody>
      </p:sp>
      <p:sp>
        <p:nvSpPr>
          <p:cNvPr id="28" name="Shape 26"/>
          <p:cNvSpPr/>
          <p:nvPr/>
        </p:nvSpPr>
        <p:spPr>
          <a:xfrm>
            <a:off x="2212848" y="3456432"/>
            <a:ext cx="731520" cy="438912"/>
          </a:xfrm>
          <a:prstGeom prst="roundRect">
            <a:avLst>
              <a:gd name="adj" fmla="val 22917"/>
            </a:avLst>
          </a:prstGeom>
          <a:solidFill>
            <a:srgbClr val="153345"/>
          </a:solidFill>
          <a:ln w="12700">
            <a:solidFill>
              <a:srgbClr val="245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31136" y="352044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4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40" dirty="0"/>
          </a:p>
        </p:txBody>
      </p:sp>
      <p:sp>
        <p:nvSpPr>
          <p:cNvPr id="30" name="Shape 28"/>
          <p:cNvSpPr/>
          <p:nvPr/>
        </p:nvSpPr>
        <p:spPr>
          <a:xfrm>
            <a:off x="3767328" y="3456432"/>
            <a:ext cx="731520" cy="438912"/>
          </a:xfrm>
          <a:prstGeom prst="roundRect">
            <a:avLst>
              <a:gd name="adj" fmla="val 22917"/>
            </a:avLst>
          </a:prstGeom>
          <a:solidFill>
            <a:srgbClr val="153345"/>
          </a:solidFill>
          <a:ln w="12700">
            <a:solidFill>
              <a:srgbClr val="245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85616" y="352044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4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340" dirty="0"/>
          </a:p>
        </p:txBody>
      </p:sp>
      <p:sp>
        <p:nvSpPr>
          <p:cNvPr id="32" name="Shape 30"/>
          <p:cNvSpPr/>
          <p:nvPr/>
        </p:nvSpPr>
        <p:spPr>
          <a:xfrm>
            <a:off x="5285232" y="3456432"/>
            <a:ext cx="731520" cy="438912"/>
          </a:xfrm>
          <a:prstGeom prst="roundRect">
            <a:avLst>
              <a:gd name="adj" fmla="val 22917"/>
            </a:avLst>
          </a:prstGeom>
          <a:solidFill>
            <a:srgbClr val="153345"/>
          </a:solidFill>
          <a:ln w="12700">
            <a:solidFill>
              <a:srgbClr val="245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52044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4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340" dirty="0"/>
          </a:p>
        </p:txBody>
      </p:sp>
      <p:sp>
        <p:nvSpPr>
          <p:cNvPr id="34" name="Shape 32"/>
          <p:cNvSpPr/>
          <p:nvPr/>
        </p:nvSpPr>
        <p:spPr>
          <a:xfrm>
            <a:off x="2212848" y="4370832"/>
            <a:ext cx="731520" cy="438912"/>
          </a:xfrm>
          <a:prstGeom prst="roundRect">
            <a:avLst>
              <a:gd name="adj" fmla="val 22917"/>
            </a:avLst>
          </a:prstGeom>
          <a:solidFill>
            <a:srgbClr val="39DFBF"/>
          </a:solidFill>
          <a:ln w="12700">
            <a:solidFill>
              <a:srgbClr val="39D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31136" y="443484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40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010</a:t>
            </a:r>
            <a:endParaRPr lang="en-US" sz="1340" dirty="0"/>
          </a:p>
        </p:txBody>
      </p:sp>
      <p:sp>
        <p:nvSpPr>
          <p:cNvPr id="36" name="Shape 34"/>
          <p:cNvSpPr/>
          <p:nvPr/>
        </p:nvSpPr>
        <p:spPr>
          <a:xfrm>
            <a:off x="4654296" y="4370832"/>
            <a:ext cx="731520" cy="438912"/>
          </a:xfrm>
          <a:prstGeom prst="roundRect">
            <a:avLst>
              <a:gd name="adj" fmla="val 22917"/>
            </a:avLst>
          </a:prstGeom>
          <a:solidFill>
            <a:srgbClr val="39DFBF"/>
          </a:solidFill>
          <a:ln w="12700">
            <a:solidFill>
              <a:srgbClr val="39D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72584" y="443484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40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</a:t>
            </a:r>
            <a:endParaRPr lang="en-US" sz="1340" dirty="0"/>
          </a:p>
        </p:txBody>
      </p:sp>
      <p:sp>
        <p:nvSpPr>
          <p:cNvPr id="38" name="Shape 36"/>
          <p:cNvSpPr/>
          <p:nvPr/>
        </p:nvSpPr>
        <p:spPr>
          <a:xfrm>
            <a:off x="5870448" y="4370832"/>
            <a:ext cx="731520" cy="438912"/>
          </a:xfrm>
          <a:prstGeom prst="roundRect">
            <a:avLst>
              <a:gd name="adj" fmla="val 22917"/>
            </a:avLst>
          </a:prstGeom>
          <a:solidFill>
            <a:srgbClr val="153345"/>
          </a:solidFill>
          <a:ln w="12700">
            <a:solidFill>
              <a:srgbClr val="245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88736" y="4434840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4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111</a:t>
            </a:r>
            <a:endParaRPr lang="en-US" sz="1340" dirty="0"/>
          </a:p>
        </p:txBody>
      </p:sp>
      <p:sp>
        <p:nvSpPr>
          <p:cNvPr id="40" name="Shape 38"/>
          <p:cNvSpPr/>
          <p:nvPr/>
        </p:nvSpPr>
        <p:spPr>
          <a:xfrm>
            <a:off x="7159752" y="2011680"/>
            <a:ext cx="4206240" cy="3456432"/>
          </a:xfrm>
          <a:prstGeom prst="roundRect">
            <a:avLst>
              <a:gd name="adj" fmla="val 4497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2313432"/>
            <a:ext cx="3319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k-buckets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7507224" y="2935224"/>
            <a:ext cx="34655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Группы контактов по диапазонам XOR-расстояний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07224" y="4050792"/>
            <a:ext cx="345643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классическом описании k = 20; контакты проверяются и обновляются.</a:t>
            </a:r>
            <a:endParaRPr lang="en-US" sz="1500" dirty="0"/>
          </a:p>
        </p:txBody>
      </p:sp>
      <p:sp>
        <p:nvSpPr>
          <p:cNvPr id="44" name="Shape 24"/>
          <p:cNvSpPr/>
          <p:nvPr/>
        </p:nvSpPr>
        <p:spPr>
          <a:xfrm>
            <a:off x="731520" y="4355514"/>
            <a:ext cx="731520" cy="438912"/>
          </a:xfrm>
          <a:prstGeom prst="roundRect">
            <a:avLst>
              <a:gd name="adj" fmla="val 22917"/>
            </a:avLst>
          </a:prstGeom>
          <a:solidFill>
            <a:srgbClr val="153345"/>
          </a:solidFill>
          <a:ln w="12700">
            <a:solidFill>
              <a:srgbClr val="245166"/>
            </a:solidFill>
            <a:prstDash val="solid"/>
          </a:ln>
        </p:spPr>
      </p:sp>
      <p:sp>
        <p:nvSpPr>
          <p:cNvPr id="45" name="Shape 24"/>
          <p:cNvSpPr/>
          <p:nvPr/>
        </p:nvSpPr>
        <p:spPr>
          <a:xfrm>
            <a:off x="3767328" y="4357311"/>
            <a:ext cx="731520" cy="438912"/>
          </a:xfrm>
          <a:prstGeom prst="roundRect">
            <a:avLst>
              <a:gd name="adj" fmla="val 22917"/>
            </a:avLst>
          </a:prstGeom>
          <a:solidFill>
            <a:srgbClr val="153345"/>
          </a:solidFill>
          <a:ln w="12700">
            <a:solidFill>
              <a:srgbClr val="245166"/>
            </a:solidFill>
            <a:prstDash val="solid"/>
          </a:ln>
        </p:spPr>
      </p:sp>
      <p:sp>
        <p:nvSpPr>
          <p:cNvPr id="46" name="Прямоугольник 45"/>
          <p:cNvSpPr/>
          <p:nvPr/>
        </p:nvSpPr>
        <p:spPr>
          <a:xfrm>
            <a:off x="867900" y="4424332"/>
            <a:ext cx="498934" cy="29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40" dirty="0" smtClean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</a:t>
            </a:r>
            <a:r>
              <a:rPr lang="ru-RU" sz="1340" dirty="0" smtClean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ru-RU" sz="1340" dirty="0"/>
          </a:p>
        </p:txBody>
      </p:sp>
      <p:sp>
        <p:nvSpPr>
          <p:cNvPr id="50" name="Прямоугольник 49"/>
          <p:cNvSpPr/>
          <p:nvPr/>
        </p:nvSpPr>
        <p:spPr>
          <a:xfrm>
            <a:off x="3900151" y="4409012"/>
            <a:ext cx="498934" cy="29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4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r>
              <a:rPr lang="en-US" sz="1340" dirty="0" smtClean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r>
              <a:rPr lang="ru-RU" sz="1340" dirty="0" smtClean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ru-RU" sz="134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KADEMLIA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900" dirty="0">
                <a:solidFill>
                  <a:srgbClr val="F7FCFF"/>
                </a:solidFill>
                <a:latin typeface="Inter Display" pitchFamily="34" charset="0"/>
                <a:ea typeface="Inter"/>
                <a:cs typeface="Inter Display" pitchFamily="34" charset="-120"/>
              </a:rPr>
              <a:t>Четыре RPC в классической Kademlia</a:t>
            </a:r>
            <a:endParaRPr lang="en-US" sz="2900" dirty="0">
              <a:ea typeface="Inter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Каждая операция решает свою задачу в поиске и хранении данных.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Kademlia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786384" y="1911096"/>
            <a:ext cx="5202936" cy="1536192"/>
          </a:xfrm>
          <a:prstGeom prst="roundRect">
            <a:avLst>
              <a:gd name="adj" fmla="val 10714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2112264"/>
            <a:ext cx="68580" cy="1042416"/>
          </a:xfrm>
          <a:prstGeom prst="roundRect">
            <a:avLst>
              <a:gd name="adj" fmla="val 213333"/>
            </a:avLst>
          </a:prstGeom>
          <a:solidFill>
            <a:srgbClr val="78C8FF"/>
          </a:solidFill>
          <a:ln w="12700">
            <a:solidFill>
              <a:srgbClr val="78C8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2157984"/>
            <a:ext cx="4334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7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651760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Проверить доступность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3081528"/>
            <a:ext cx="4498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2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Узел отвечает? 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336792" y="1911096"/>
            <a:ext cx="5202936" cy="1536192"/>
          </a:xfrm>
          <a:prstGeom prst="roundRect">
            <a:avLst>
              <a:gd name="adj" fmla="val 10714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2112264"/>
            <a:ext cx="68580" cy="1042416"/>
          </a:xfrm>
          <a:prstGeom prst="roundRect">
            <a:avLst>
              <a:gd name="adj" fmla="val 213333"/>
            </a:avLst>
          </a:prstGeom>
          <a:solidFill>
            <a:srgbClr val="39DFBF"/>
          </a:solidFill>
          <a:ln w="12700">
            <a:solidFill>
              <a:srgbClr val="39DFB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157984"/>
            <a:ext cx="4334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84848" y="2651760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Разместить значение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84848" y="3081528"/>
            <a:ext cx="4498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2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→ value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86384" y="3666744"/>
            <a:ext cx="5202936" cy="1536192"/>
          </a:xfrm>
          <a:prstGeom prst="roundRect">
            <a:avLst>
              <a:gd name="adj" fmla="val 10714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" y="3867912"/>
            <a:ext cx="68580" cy="1042416"/>
          </a:xfrm>
          <a:prstGeom prst="roundRect">
            <a:avLst>
              <a:gd name="adj" fmla="val 213333"/>
            </a:avLst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16152" y="3913632"/>
            <a:ext cx="4334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FIND_NODE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34440" y="4407408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Найти контакты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234440" y="4837176"/>
            <a:ext cx="4498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2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Ближайшие Node ID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336792" y="3666744"/>
            <a:ext cx="5202936" cy="1536192"/>
          </a:xfrm>
          <a:prstGeom prst="roundRect">
            <a:avLst>
              <a:gd name="adj" fmla="val 10714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9672" y="3867912"/>
            <a:ext cx="68580" cy="1042416"/>
          </a:xfrm>
          <a:prstGeom prst="roundRect">
            <a:avLst>
              <a:gd name="adj" fmla="val 213333"/>
            </a:avLst>
          </a:prstGeom>
          <a:solidFill>
            <a:srgbClr val="B9A6FF"/>
          </a:solidFill>
          <a:ln w="12700">
            <a:solidFill>
              <a:srgbClr val="B9A6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913632"/>
            <a:ext cx="4334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B9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FIND_VALUE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84848" y="4407408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Получить значение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784848" y="4837176"/>
            <a:ext cx="4498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2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Значение или новые контакты</a:t>
            </a:r>
            <a:endParaRPr lang="en-US" sz="12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KADEMLIA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Итеративный поиск с параллельными запросами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Инициатор собирает ответы и каждый раунд выбирает более близкие контакты.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Kademlia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932688" y="2093976"/>
            <a:ext cx="3044952" cy="1115568"/>
          </a:xfrm>
          <a:prstGeom prst="roundRect">
            <a:avLst>
              <a:gd name="adj" fmla="val 12295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2221992"/>
            <a:ext cx="329184" cy="329184"/>
          </a:xfrm>
          <a:prstGeom prst="ellipse">
            <a:avLst/>
          </a:prstGeom>
          <a:solidFill>
            <a:srgbClr val="78C8FF"/>
          </a:solidFill>
          <a:ln w="17780">
            <a:solidFill>
              <a:srgbClr val="78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283257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53896" y="225856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2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1133856" y="270662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Известны: 21, 32, 42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26280" y="2093976"/>
            <a:ext cx="3044952" cy="1115568"/>
          </a:xfrm>
          <a:prstGeom prst="roundRect">
            <a:avLst>
              <a:gd name="adj" fmla="val 12295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36008" y="2221992"/>
            <a:ext cx="329184" cy="329184"/>
          </a:xfrm>
          <a:prstGeom prst="ellipse">
            <a:avLst/>
          </a:prstGeom>
          <a:solidFill>
            <a:srgbClr val="FFBF78"/>
          </a:solidFill>
          <a:ln w="17780">
            <a:solidFill>
              <a:srgbClr val="FFBF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2283257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47488" y="225856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2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FIND_NODE(54)</a:t>
            </a:r>
            <a:endParaRPr lang="en-US" sz="1620" dirty="0"/>
          </a:p>
        </p:txBody>
      </p:sp>
      <p:sp>
        <p:nvSpPr>
          <p:cNvPr id="20" name="Text 18"/>
          <p:cNvSpPr/>
          <p:nvPr/>
        </p:nvSpPr>
        <p:spPr>
          <a:xfrm>
            <a:off x="4727448" y="270662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Запросы к 32 и 42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74736" y="2093976"/>
            <a:ext cx="3044952" cy="1115568"/>
          </a:xfrm>
          <a:prstGeom prst="roundRect">
            <a:avLst>
              <a:gd name="adj" fmla="val 12295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4464" y="2221992"/>
            <a:ext cx="329184" cy="329184"/>
          </a:xfrm>
          <a:prstGeom prst="ellipse">
            <a:avLst/>
          </a:prstGeom>
          <a:solidFill>
            <a:srgbClr val="39DFBF"/>
          </a:solidFill>
          <a:ln w="17780">
            <a:solidFill>
              <a:srgbClr val="39D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39328" y="2283257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95944" y="225856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2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Новые контакты</a:t>
            </a:r>
            <a:endParaRPr lang="en-US" sz="1620" dirty="0"/>
          </a:p>
        </p:txBody>
      </p:sp>
      <p:sp>
        <p:nvSpPr>
          <p:cNvPr id="25" name="Text 23"/>
          <p:cNvSpPr/>
          <p:nvPr/>
        </p:nvSpPr>
        <p:spPr>
          <a:xfrm>
            <a:off x="8375904" y="270662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48, 51 и 56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078224" y="2660904"/>
            <a:ext cx="347472" cy="0"/>
          </a:xfrm>
          <a:prstGeom prst="line">
            <a:avLst/>
          </a:prstGeom>
          <a:noFill/>
          <a:ln w="31750">
            <a:solidFill>
              <a:srgbClr val="39DFB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671816" y="2660904"/>
            <a:ext cx="356616" cy="0"/>
          </a:xfrm>
          <a:prstGeom prst="line">
            <a:avLst/>
          </a:prstGeom>
          <a:noFill/>
          <a:ln w="31750">
            <a:solidFill>
              <a:srgbClr val="39DFB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9264" y="3657600"/>
            <a:ext cx="10287000" cy="1554480"/>
          </a:xfrm>
          <a:prstGeom prst="roundRect">
            <a:avLst>
              <a:gd name="adj" fmla="val 9412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4168" y="3886200"/>
            <a:ext cx="61539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α = число параллельных запросов</a:t>
            </a:r>
            <a:endParaRPr lang="en-US" sz="2300" dirty="0"/>
          </a:p>
        </p:txBody>
      </p:sp>
      <p:sp>
        <p:nvSpPr>
          <p:cNvPr id="30" name="Shape 28"/>
          <p:cNvSpPr/>
          <p:nvPr/>
        </p:nvSpPr>
        <p:spPr>
          <a:xfrm>
            <a:off x="8266176" y="3904488"/>
            <a:ext cx="2377440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7616" y="3918204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часто α = 3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62456" y="4636008"/>
            <a:ext cx="90708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ru-RU" sz="1640" dirty="0" smtClean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Если</a:t>
            </a:r>
            <a:r>
              <a:rPr lang="en-US" sz="1640" dirty="0" smtClean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4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отдельный узел медленный или недоступен, поиск не обязан ждать только его.</a:t>
            </a:r>
            <a:endParaRPr lang="en-US" sz="164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KADEMLIA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ru-RU" sz="2900" b="1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П</a:t>
            </a:r>
            <a:r>
              <a:rPr lang="en-US" sz="2900" b="1" dirty="0" err="1" smtClean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ример</a:t>
            </a:r>
            <a:r>
              <a:rPr lang="en-US" sz="2900" b="1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: ищем ID 54 из узла 8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сужается к узлам с наименьшим XOR-</a:t>
            </a:r>
            <a:r>
              <a:rPr lang="en-US" sz="1450" dirty="0" err="1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расстоянием</a:t>
            </a:r>
            <a:r>
              <a:rPr lang="en-US" sz="1450" dirty="0" smtClean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ru-RU" sz="1450" dirty="0" smtClean="0">
                <a:solidFill>
                  <a:srgbClr val="B6CDD8"/>
                </a:solidFill>
                <a:ea typeface="Inter" pitchFamily="34" charset="-122"/>
              </a:rPr>
              <a:t>Сеть: 4</a:t>
            </a:r>
            <a:r>
              <a:rPr lang="en-US" sz="1450" dirty="0" smtClean="0">
                <a:solidFill>
                  <a:srgbClr val="B6CDD8"/>
                </a:solidFill>
                <a:ea typeface="Inter" pitchFamily="34" charset="-122"/>
              </a:rPr>
              <a:t>, 8, 14, 21, 32, 38, 42, 48, 51, 56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Kademlia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832104" y="1901952"/>
            <a:ext cx="5001768" cy="3456432"/>
          </a:xfrm>
          <a:prstGeom prst="roundRect">
            <a:avLst>
              <a:gd name="adj" fmla="val 3968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157984"/>
            <a:ext cx="4398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Сначала узел 8 знает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16152" y="2798064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21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78608" y="2852928"/>
            <a:ext cx="2080260" cy="210312"/>
          </a:xfrm>
          <a:prstGeom prst="roundRect">
            <a:avLst>
              <a:gd name="adj" fmla="val 13043"/>
            </a:avLst>
          </a:prstGeom>
          <a:solidFill>
            <a:srgbClr val="78C8FF"/>
          </a:solidFill>
          <a:ln w="12700">
            <a:solidFill>
              <a:srgbClr val="78C8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2779776"/>
            <a:ext cx="374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6152" y="342900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32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78608" y="3483864"/>
            <a:ext cx="1307592" cy="210312"/>
          </a:xfrm>
          <a:prstGeom prst="roundRect">
            <a:avLst>
              <a:gd name="adj" fmla="val 13043"/>
            </a:avLst>
          </a:prstGeom>
          <a:solidFill>
            <a:srgbClr val="78C8FF"/>
          </a:solidFill>
          <a:ln w="12700">
            <a:solidFill>
              <a:srgbClr val="78C8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3410712"/>
            <a:ext cx="374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16152" y="4059936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42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578608" y="4114800"/>
            <a:ext cx="1664208" cy="210312"/>
          </a:xfrm>
          <a:prstGeom prst="roundRect">
            <a:avLst>
              <a:gd name="adj" fmla="val 13043"/>
            </a:avLst>
          </a:prstGeom>
          <a:solidFill>
            <a:srgbClr val="78C8FF"/>
          </a:solidFill>
          <a:ln w="12700">
            <a:solidFill>
              <a:srgbClr val="78C8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4041648"/>
            <a:ext cx="374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26480" y="1901952"/>
            <a:ext cx="5193792" cy="3456432"/>
          </a:xfrm>
          <a:prstGeom prst="roundRect">
            <a:avLst>
              <a:gd name="adj" fmla="val 3968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2157984"/>
            <a:ext cx="4544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ответа узла 42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47104" y="27980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48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827264" y="2852928"/>
            <a:ext cx="874395" cy="210312"/>
          </a:xfrm>
          <a:prstGeom prst="roundRect">
            <a:avLst>
              <a:gd name="adj" fmla="val 13043"/>
            </a:avLst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96728" y="2779776"/>
            <a:ext cx="374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47104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51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827264" y="3483864"/>
            <a:ext cx="728663" cy="210312"/>
          </a:xfrm>
          <a:prstGeom prst="roundRect">
            <a:avLst>
              <a:gd name="adj" fmla="val 13043"/>
            </a:avLst>
          </a:prstGeom>
          <a:solidFill>
            <a:srgbClr val="39DFBF"/>
          </a:solidFill>
          <a:ln w="12700">
            <a:solidFill>
              <a:srgbClr val="39DFB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96728" y="3410712"/>
            <a:ext cx="374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47104" y="405993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8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56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827264" y="4114800"/>
            <a:ext cx="2040255" cy="210312"/>
          </a:xfrm>
          <a:prstGeom prst="roundRect">
            <a:avLst>
              <a:gd name="adj" fmla="val 13043"/>
            </a:avLst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96728" y="4041648"/>
            <a:ext cx="3749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002536" y="5596128"/>
            <a:ext cx="8211312" cy="493776"/>
          </a:xfrm>
          <a:prstGeom prst="roundRect">
            <a:avLst>
              <a:gd name="adj" fmla="val 22222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67712" y="5687568"/>
            <a:ext cx="7662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Ближайшие кандидаты к 54: 51, 48, 56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KADEMLIA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FIND_VALUE: найден узел — получены данные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Хранение значения и поиск контактов — разные части одной DHT.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Kademlia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960120" y="2377440"/>
            <a:ext cx="3218688" cy="1673352"/>
          </a:xfrm>
          <a:prstGeom prst="roundRect">
            <a:avLst>
              <a:gd name="adj" fmla="val 9290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9576" y="2642616"/>
            <a:ext cx="347472" cy="347472"/>
          </a:xfrm>
          <a:prstGeom prst="ellipse">
            <a:avLst/>
          </a:prstGeom>
          <a:solidFill>
            <a:srgbClr val="78C8FF"/>
          </a:solidFill>
          <a:ln w="17780">
            <a:solidFill>
              <a:srgbClr val="78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269748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91640" y="2624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Узел 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61872" y="3227832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Знает target = 54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34840" y="2377440"/>
            <a:ext cx="3218688" cy="1673352"/>
          </a:xfrm>
          <a:prstGeom prst="roundRect">
            <a:avLst>
              <a:gd name="adj" fmla="val 9290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2642616"/>
            <a:ext cx="347472" cy="347472"/>
          </a:xfrm>
          <a:prstGeom prst="ellipse">
            <a:avLst/>
          </a:prstGeom>
          <a:solidFill>
            <a:srgbClr val="39DFBF"/>
          </a:solidFill>
          <a:ln w="17780">
            <a:solidFill>
              <a:srgbClr val="39D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269748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2624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Узел 51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36592" y="3227832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Имеет значение key = 54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927848" y="2377440"/>
            <a:ext cx="3218688" cy="1673352"/>
          </a:xfrm>
          <a:prstGeom prst="roundRect">
            <a:avLst>
              <a:gd name="adj" fmla="val 9290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7304" y="2642616"/>
            <a:ext cx="347472" cy="347472"/>
          </a:xfrm>
          <a:prstGeom prst="ellipse">
            <a:avLst/>
          </a:prstGeom>
          <a:solidFill>
            <a:srgbClr val="FFBF78"/>
          </a:solidFill>
          <a:ln w="17780">
            <a:solidFill>
              <a:srgbClr val="FFBF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1312" y="2697480"/>
            <a:ext cx="21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59368" y="2624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229600" y="3227832"/>
            <a:ext cx="2660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Возвращает value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06240" y="3172968"/>
            <a:ext cx="201168" cy="0"/>
          </a:xfrm>
          <a:prstGeom prst="line">
            <a:avLst/>
          </a:prstGeom>
          <a:noFill/>
          <a:ln w="25400">
            <a:solidFill>
              <a:srgbClr val="39DFB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717536" y="3172968"/>
            <a:ext cx="182880" cy="0"/>
          </a:xfrm>
          <a:prstGeom prst="line">
            <a:avLst/>
          </a:prstGeom>
          <a:noFill/>
          <a:ln w="25400">
            <a:solidFill>
              <a:srgbClr val="39DFB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386584" y="4379976"/>
            <a:ext cx="2514600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78024" y="4393692"/>
            <a:ext cx="2331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FIND_VALUE(54)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17536" y="4379976"/>
            <a:ext cx="1234440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08976" y="4393692"/>
            <a:ext cx="1051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78408" y="5230368"/>
            <a:ext cx="10323576" cy="704088"/>
          </a:xfrm>
          <a:prstGeom prst="roundRect">
            <a:avLst>
              <a:gd name="adj" fmla="val 18182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89888" y="5440680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Репликация на нескольких ближайших узлах повышает доступность.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BITTORRENT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BitTorrent: </a:t>
            </a:r>
            <a:r>
              <a:rPr lang="ru-RU" sz="2800" dirty="0" smtClean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ф</a:t>
            </a:r>
            <a:r>
              <a:rPr lang="en-US" sz="2800" dirty="0" smtClean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айл </a:t>
            </a:r>
            <a:r>
              <a:rPr lang="en-US" sz="2800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приходит от нескольких пиров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Обмен частями файла и обнаружение пиров — разные механизмы.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BitTorrent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804672" y="2011680"/>
            <a:ext cx="3776472" cy="3337560"/>
          </a:xfrm>
          <a:prstGeom prst="roundRect">
            <a:avLst>
              <a:gd name="adj" fmla="val 4658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304288"/>
            <a:ext cx="32278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 lecture.mp4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06424" y="3026664"/>
            <a:ext cx="685800" cy="749808"/>
          </a:xfrm>
          <a:prstGeom prst="roundRect">
            <a:avLst>
              <a:gd name="adj" fmla="val 14667"/>
            </a:avLst>
          </a:prstGeom>
          <a:solidFill>
            <a:srgbClr val="78C8FF"/>
          </a:solidFill>
          <a:ln w="12700">
            <a:solidFill>
              <a:srgbClr val="78C8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18211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929384" y="3026664"/>
            <a:ext cx="685800" cy="749808"/>
          </a:xfrm>
          <a:prstGeom prst="roundRect">
            <a:avLst>
              <a:gd name="adj" fmla="val 14667"/>
            </a:avLst>
          </a:prstGeom>
          <a:solidFill>
            <a:srgbClr val="39DFBF"/>
          </a:solidFill>
          <a:ln w="12700">
            <a:solidFill>
              <a:srgbClr val="39DFB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318211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2752344" y="3026664"/>
            <a:ext cx="685800" cy="749808"/>
          </a:xfrm>
          <a:prstGeom prst="roundRect">
            <a:avLst>
              <a:gd name="adj" fmla="val 14667"/>
            </a:avLst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318211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575304" y="3026664"/>
            <a:ext cx="685800" cy="749808"/>
          </a:xfrm>
          <a:prstGeom prst="roundRect">
            <a:avLst>
              <a:gd name="adj" fmla="val 14667"/>
            </a:avLst>
          </a:prstGeom>
          <a:solidFill>
            <a:srgbClr val="B9A6FF"/>
          </a:solidFill>
          <a:ln w="12700">
            <a:solidFill>
              <a:srgbClr val="B9A6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318211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61288" y="4288536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хешей частей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36592" y="3675888"/>
            <a:ext cx="1024128" cy="0"/>
          </a:xfrm>
          <a:prstGeom prst="line">
            <a:avLst/>
          </a:prstGeom>
          <a:noFill/>
          <a:ln w="36830">
            <a:solidFill>
              <a:srgbClr val="39DFB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80760" y="2267712"/>
            <a:ext cx="2203704" cy="1435608"/>
          </a:xfrm>
          <a:prstGeom prst="roundRect">
            <a:avLst>
              <a:gd name="adj" fmla="val 9554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91072" y="2487168"/>
            <a:ext cx="347472" cy="347472"/>
          </a:xfrm>
          <a:prstGeom prst="ellipse">
            <a:avLst/>
          </a:prstGeom>
          <a:solidFill>
            <a:srgbClr val="78C8FF"/>
          </a:solidFill>
          <a:ln w="17780">
            <a:solidFill>
              <a:srgbClr val="78C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7416" y="2450592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Пир A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336792" y="31181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3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503920" y="2267712"/>
            <a:ext cx="2203704" cy="1435608"/>
          </a:xfrm>
          <a:prstGeom prst="roundRect">
            <a:avLst>
              <a:gd name="adj" fmla="val 9554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14232" y="2487168"/>
            <a:ext cx="347472" cy="347472"/>
          </a:xfrm>
          <a:prstGeom prst="ellipse">
            <a:avLst/>
          </a:prstGeom>
          <a:solidFill>
            <a:srgbClr val="FFBF78"/>
          </a:solidFill>
          <a:ln w="17780">
            <a:solidFill>
              <a:srgbClr val="FFBF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0576" y="2450592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Пир B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759952" y="31181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4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080760" y="4032504"/>
            <a:ext cx="2203704" cy="1435608"/>
          </a:xfrm>
          <a:prstGeom prst="roundRect">
            <a:avLst>
              <a:gd name="adj" fmla="val 9554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91072" y="4251960"/>
            <a:ext cx="347472" cy="347472"/>
          </a:xfrm>
          <a:prstGeom prst="ellipse">
            <a:avLst/>
          </a:prstGeom>
          <a:solidFill>
            <a:srgbClr val="39DFBF"/>
          </a:solidFill>
          <a:ln w="17780">
            <a:solidFill>
              <a:srgbClr val="39D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57416" y="421538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Сид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336792" y="488289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2 · 3 · 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052560" y="4114800"/>
            <a:ext cx="2176272" cy="1261872"/>
          </a:xfrm>
          <a:prstGeom prst="roundRect">
            <a:avLst>
              <a:gd name="adj" fmla="val 11594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5168" y="4379976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swarm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44000" y="4846320"/>
            <a:ext cx="1984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участники раздачи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BITTORRENT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DHT помогает найти </a:t>
            </a:r>
            <a:r>
              <a:rPr lang="en-US" sz="2900" b="1" dirty="0" smtClean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пиро</a:t>
            </a:r>
            <a:r>
              <a:rPr lang="ru-RU" sz="2900" b="1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в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info_hash сопоставляется с IP-адресами и портами участников раздачи.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BitTorrent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704088" y="2514600"/>
            <a:ext cx="2542032" cy="1371600"/>
          </a:xfrm>
          <a:prstGeom prst="roundRect">
            <a:avLst>
              <a:gd name="adj" fmla="val 11333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734056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Magnet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13816" y="3264408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info_hash = 54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291840" y="3200400"/>
            <a:ext cx="265176" cy="0"/>
          </a:xfrm>
          <a:prstGeom prst="line">
            <a:avLst/>
          </a:prstGeom>
          <a:noFill/>
          <a:ln w="25400">
            <a:solidFill>
              <a:srgbClr val="FFBF7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93592" y="2514600"/>
            <a:ext cx="2542032" cy="1371600"/>
          </a:xfrm>
          <a:prstGeom prst="roundRect">
            <a:avLst>
              <a:gd name="adj" fmla="val 11333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176" y="2734056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BitTorrent DHT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703320" y="3264408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get_peers(54)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81344" y="3200400"/>
            <a:ext cx="265176" cy="0"/>
          </a:xfrm>
          <a:prstGeom prst="line">
            <a:avLst/>
          </a:prstGeom>
          <a:noFill/>
          <a:ln w="25400">
            <a:solidFill>
              <a:srgbClr val="FFBF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83096" y="2514600"/>
            <a:ext cx="2542032" cy="1371600"/>
          </a:xfrm>
          <a:prstGeom prst="roundRect">
            <a:avLst>
              <a:gd name="adj" fmla="val 11333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734056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Адреса пиров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592824" y="3264408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: port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070848" y="3200400"/>
            <a:ext cx="265176" cy="0"/>
          </a:xfrm>
          <a:prstGeom prst="line">
            <a:avLst/>
          </a:prstGeom>
          <a:noFill/>
          <a:ln w="25400">
            <a:solidFill>
              <a:srgbClr val="FFBF7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372600" y="2514600"/>
            <a:ext cx="2542032" cy="1371600"/>
          </a:xfrm>
          <a:prstGeom prst="roundRect">
            <a:avLst>
              <a:gd name="adj" fmla="val 11333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73184" y="2734056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Пиры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482328" y="3264408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Передают части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BITTORRENT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dirty="0" smtClean="0">
                <a:solidFill>
                  <a:srgbClr val="F7FCFF"/>
                </a:solidFill>
                <a:latin typeface="Inter Display" pitchFamily="34" charset="0"/>
                <a:ea typeface="Inter"/>
                <a:cs typeface="Inter Display" pitchFamily="34" charset="-120"/>
              </a:rPr>
              <a:t>BEP </a:t>
            </a:r>
            <a:r>
              <a:rPr lang="en-US" sz="2800" dirty="0">
                <a:solidFill>
                  <a:srgbClr val="F7FCFF"/>
                </a:solidFill>
                <a:latin typeface="Inter Display" pitchFamily="34" charset="0"/>
                <a:ea typeface="Inter"/>
                <a:cs typeface="Inter Display" pitchFamily="34" charset="-120"/>
              </a:rPr>
              <a:t>5: найти пиров и объявить о себе</a:t>
            </a:r>
            <a:endParaRPr lang="en-US" sz="2800" dirty="0">
              <a:ea typeface="Inter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get_peers и announce_peer дополняют Kademlia-подобный поиск.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BitTorrent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749808" y="1965960"/>
            <a:ext cx="5312664" cy="3566160"/>
          </a:xfrm>
          <a:prstGeom prst="roundRect">
            <a:avLst>
              <a:gd name="adj" fmla="val 4359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258568"/>
            <a:ext cx="4608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get_peers(info_hash)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78992" y="2907792"/>
            <a:ext cx="4361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Ответ может содержать: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33272" y="3374136"/>
            <a:ext cx="4407408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387852"/>
            <a:ext cx="4224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values = адреса пиров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99232" y="38313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или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33272" y="4178808"/>
            <a:ext cx="4407408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192524"/>
            <a:ext cx="4224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nodes = близкие DHT-узлы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1965960"/>
            <a:ext cx="5129784" cy="3566160"/>
          </a:xfrm>
          <a:prstGeom prst="roundRect">
            <a:avLst>
              <a:gd name="adj" fmla="val 4359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8544" y="2258568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BF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announce_peer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56832" y="2935224"/>
            <a:ext cx="4288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Объявляет адрес пира для info_hash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65976" y="3822192"/>
            <a:ext cx="4288536" cy="320040"/>
          </a:xfrm>
          <a:prstGeom prst="roundRect">
            <a:avLst>
              <a:gd name="adj" fmla="val 42857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7416" y="3835908"/>
            <a:ext cx="4105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40" b="1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info_hash + порт + token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6665976" y="4407408"/>
            <a:ext cx="4096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2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ограничивает поддельные объявления чужих IP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896112" y="5779008"/>
            <a:ext cx="10433304" cy="356616"/>
          </a:xfrm>
          <a:prstGeom prst="roundRect">
            <a:avLst>
              <a:gd name="adj" fmla="val 15385"/>
            </a:avLst>
          </a:prstGeom>
          <a:solidFill>
            <a:srgbClr val="0B2030"/>
          </a:solidFill>
          <a:ln w="12700">
            <a:solidFill>
              <a:srgbClr val="0B203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5843016"/>
            <a:ext cx="10094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Также используются ping и find_node; сведения о пирах периодически обновляются.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BITTORRENT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900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Magnet-ссылка: путь от ID до пиров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21792" y="1097280"/>
            <a:ext cx="10881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5000"/>
              </a:lnSpc>
            </a:pPr>
            <a:r>
              <a:rPr lang="ru-RU" sz="1450" dirty="0" smtClean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</a:t>
            </a:r>
            <a:r>
              <a:rPr lang="en-US" sz="1450" dirty="0" err="1" smtClean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ример</a:t>
            </a: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info_hash = 54, запрос начинается с DHT-узла 8</a:t>
            </a:r>
            <a:r>
              <a:rPr lang="en-US" sz="1450" dirty="0" smtClean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br>
              <a:rPr lang="en-US" sz="1450" dirty="0" smtClean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ru-RU" sz="1450" dirty="0">
                <a:solidFill>
                  <a:srgbClr val="B6CDD8"/>
                </a:solidFill>
                <a:ea typeface="Inter" pitchFamily="34" charset="-122"/>
              </a:rPr>
              <a:t>Сеть: 4</a:t>
            </a:r>
            <a:r>
              <a:rPr lang="en-US" sz="1450" dirty="0">
                <a:solidFill>
                  <a:srgbClr val="B6CDD8"/>
                </a:solidFill>
                <a:ea typeface="Inter" pitchFamily="34" charset="-122"/>
              </a:rPr>
              <a:t>, 8, 14, 21, 32, 38, 42, 48, 51, 56</a:t>
            </a:r>
            <a:endParaRPr lang="en-US" sz="1450" dirty="0"/>
          </a:p>
          <a:p>
            <a:pPr marL="0" indent="0" algn="l">
              <a:lnSpc>
                <a:spcPct val="105000"/>
              </a:lnSpc>
              <a:buNone/>
            </a:pP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BitTorrent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758952" y="1947672"/>
            <a:ext cx="5248656" cy="1399032"/>
          </a:xfrm>
          <a:prstGeom prst="roundRect">
            <a:avLst>
              <a:gd name="adj" fmla="val 11765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" y="2139696"/>
            <a:ext cx="457200" cy="457200"/>
          </a:xfrm>
          <a:prstGeom prst="ellipse">
            <a:avLst/>
          </a:prstGeom>
          <a:solidFill>
            <a:srgbClr val="78C8FF"/>
          </a:solidFill>
          <a:ln w="17780">
            <a:solidFill>
              <a:srgbClr val="78C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22128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1581912" y="2167128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Magnet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81912" y="268833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7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Узнаём info_hash = 54</a:t>
            </a:r>
            <a:endParaRPr lang="en-US" sz="1470" dirty="0"/>
          </a:p>
        </p:txBody>
      </p:sp>
      <p:sp>
        <p:nvSpPr>
          <p:cNvPr id="16" name="Shape 14"/>
          <p:cNvSpPr/>
          <p:nvPr/>
        </p:nvSpPr>
        <p:spPr>
          <a:xfrm>
            <a:off x="6409944" y="1947672"/>
            <a:ext cx="5248656" cy="1399032"/>
          </a:xfrm>
          <a:prstGeom prst="roundRect">
            <a:avLst>
              <a:gd name="adj" fmla="val 11765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2139696"/>
            <a:ext cx="457200" cy="457200"/>
          </a:xfrm>
          <a:prstGeom prst="ellipse">
            <a:avLst/>
          </a:prstGeom>
          <a:solidFill>
            <a:srgbClr val="39DFBF"/>
          </a:solidFill>
          <a:ln w="17780">
            <a:solidFill>
              <a:srgbClr val="39D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5976" y="22128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7232904" y="2167128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DHT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232904" y="268833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7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→ (32, 42) → (51, 48)</a:t>
            </a:r>
            <a:endParaRPr lang="en-US" sz="1470" dirty="0"/>
          </a:p>
        </p:txBody>
      </p:sp>
      <p:sp>
        <p:nvSpPr>
          <p:cNvPr id="21" name="Shape 19"/>
          <p:cNvSpPr/>
          <p:nvPr/>
        </p:nvSpPr>
        <p:spPr>
          <a:xfrm>
            <a:off x="758952" y="3557016"/>
            <a:ext cx="5248656" cy="1399032"/>
          </a:xfrm>
          <a:prstGeom prst="roundRect">
            <a:avLst>
              <a:gd name="adj" fmla="val 11765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" y="3749040"/>
            <a:ext cx="457200" cy="457200"/>
          </a:xfrm>
          <a:prstGeom prst="ellipse">
            <a:avLst/>
          </a:prstGeom>
          <a:solidFill>
            <a:srgbClr val="FFBF78"/>
          </a:solidFill>
          <a:ln w="17780">
            <a:solidFill>
              <a:srgbClr val="FFBF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4984" y="382219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1581912" y="3776472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get_peers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581912" y="42976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7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Возвращаются IP : port</a:t>
            </a:r>
            <a:endParaRPr lang="en-US" sz="1470" dirty="0"/>
          </a:p>
        </p:txBody>
      </p:sp>
      <p:sp>
        <p:nvSpPr>
          <p:cNvPr id="26" name="Shape 24"/>
          <p:cNvSpPr/>
          <p:nvPr/>
        </p:nvSpPr>
        <p:spPr>
          <a:xfrm>
            <a:off x="6409944" y="3557016"/>
            <a:ext cx="5248656" cy="1399032"/>
          </a:xfrm>
          <a:prstGeom prst="roundRect">
            <a:avLst>
              <a:gd name="adj" fmla="val 11765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3749040"/>
            <a:ext cx="457200" cy="457200"/>
          </a:xfrm>
          <a:prstGeom prst="ellipse">
            <a:avLst/>
          </a:prstGeom>
          <a:solidFill>
            <a:srgbClr val="B9A6FF"/>
          </a:solidFill>
          <a:ln w="17780">
            <a:solidFill>
              <a:srgbClr val="B9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65976" y="382219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8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7232904" y="3776472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Соединение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7232904" y="42976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7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Клиент подключается к пирам</a:t>
            </a:r>
            <a:endParaRPr lang="en-US" sz="1470" dirty="0"/>
          </a:p>
        </p:txBody>
      </p:sp>
      <p:sp>
        <p:nvSpPr>
          <p:cNvPr id="31" name="Shape 29"/>
          <p:cNvSpPr/>
          <p:nvPr/>
        </p:nvSpPr>
        <p:spPr>
          <a:xfrm>
            <a:off x="1005840" y="5422392"/>
            <a:ext cx="10076688" cy="557784"/>
          </a:xfrm>
          <a:prstGeom prst="roundRect">
            <a:avLst>
              <a:gd name="adj" fmla="val 22951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43584" y="5532120"/>
            <a:ext cx="9683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DHT-узлы 51 и 48 могут вернуть адреса участников этой раздачи.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BITTORRENT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После поиска начинается передача файла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Разные пиры отдают разные части; клиент затем может сам объявить участие.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BitTorrent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822960" y="2167128"/>
            <a:ext cx="3520440" cy="1463040"/>
          </a:xfrm>
          <a:prstGeom prst="roundRect">
            <a:avLst>
              <a:gd name="adj" fmla="val 11250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9556" y="2409444"/>
            <a:ext cx="210312" cy="210312"/>
          </a:xfrm>
          <a:prstGeom prst="ellipse">
            <a:avLst/>
          </a:prstGeom>
          <a:solidFill>
            <a:srgbClr val="78C8FF"/>
          </a:solidFill>
          <a:ln w="12700">
            <a:solidFill>
              <a:srgbClr val="78C8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340864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4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203.0.113.10:6881</a:t>
            </a:r>
            <a:endParaRPr lang="en-US" sz="1640" dirty="0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части 1, 3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663440" y="2167128"/>
            <a:ext cx="3520440" cy="1463040"/>
          </a:xfrm>
          <a:prstGeom prst="roundRect">
            <a:avLst>
              <a:gd name="adj" fmla="val 11250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0036" y="2409444"/>
            <a:ext cx="210312" cy="210312"/>
          </a:xfrm>
          <a:prstGeom prst="ellipse">
            <a:avLst/>
          </a:prstGeom>
          <a:solidFill>
            <a:srgbClr val="FFBF78"/>
          </a:solidFill>
          <a:ln w="12700">
            <a:solidFill>
              <a:srgbClr val="FFBF7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340864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4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203.0.113.20:6881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5212080" y="292608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части 2, 4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503920" y="2167128"/>
            <a:ext cx="3520440" cy="1463040"/>
          </a:xfrm>
          <a:prstGeom prst="roundRect">
            <a:avLst>
              <a:gd name="adj" fmla="val 11250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00516" y="2409444"/>
            <a:ext cx="210312" cy="210312"/>
          </a:xfrm>
          <a:prstGeom prst="ellipse">
            <a:avLst/>
          </a:prstGeom>
          <a:solidFill>
            <a:srgbClr val="39DFBF"/>
          </a:solidFill>
          <a:ln w="12700">
            <a:solidFill>
              <a:srgbClr val="39DFB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340864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4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203.0.113.30:6881</a:t>
            </a:r>
            <a:endParaRPr lang="en-US" sz="1640" dirty="0"/>
          </a:p>
        </p:txBody>
      </p:sp>
      <p:sp>
        <p:nvSpPr>
          <p:cNvPr id="22" name="Text 20"/>
          <p:cNvSpPr/>
          <p:nvPr/>
        </p:nvSpPr>
        <p:spPr>
          <a:xfrm>
            <a:off x="9052560" y="2926080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4 части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035040" y="3867912"/>
            <a:ext cx="0" cy="438912"/>
          </a:xfrm>
          <a:prstGeom prst="line">
            <a:avLst/>
          </a:prstGeom>
          <a:noFill/>
          <a:ln w="31750">
            <a:solidFill>
              <a:srgbClr val="39DFB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054096" y="4517136"/>
            <a:ext cx="6071616" cy="923544"/>
          </a:xfrm>
          <a:prstGeom prst="roundRect">
            <a:avLst>
              <a:gd name="adj" fmla="val 17822"/>
            </a:avLst>
          </a:prstGeom>
          <a:solidFill>
            <a:srgbClr val="153345"/>
          </a:solidFill>
          <a:ln w="12700">
            <a:solidFill>
              <a:srgbClr val="15334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4782312"/>
            <a:ext cx="5623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7F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lecture.mp4 — файл собран и проверен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655064" y="582472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Следующий шаг: announce_peer — чтобы другие нашли наш адрес.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2331720"/>
            <a:ext cx="3840480" cy="3840480"/>
          </a:xfrm>
          <a:prstGeom prst="ellipse">
            <a:avLst/>
          </a:prstGeom>
          <a:solidFill>
            <a:srgbClr val="081622">
              <a:alpha val="0"/>
            </a:srgbClr>
          </a:solidFill>
          <a:ln w="12700">
            <a:solidFill>
              <a:srgbClr val="245166">
                <a:alpha val="4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52760" y="-1737360"/>
            <a:ext cx="2743200" cy="914400"/>
          </a:xfrm>
          <a:prstGeom prst="ellipse">
            <a:avLst/>
          </a:prstGeom>
          <a:solidFill>
            <a:srgbClr val="081622">
              <a:alpha val="0"/>
            </a:srgbClr>
          </a:solidFill>
          <a:ln w="10160">
            <a:solidFill>
              <a:srgbClr val="245166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8346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b="1" kern="0" spc="210" dirty="0">
                <a:solidFill>
                  <a:srgbClr val="39DF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ОБСУЖДЕНИЕ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675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7F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Вопросы к аудитории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21792" y="13075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B6CD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Проверим ключевые различия на уже знакомом примере.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6519672"/>
            <a:ext cx="10945368" cy="0"/>
          </a:xfrm>
          <a:prstGeom prst="line">
            <a:avLst/>
          </a:prstGeom>
          <a:noFill/>
          <a:ln w="11430">
            <a:solidFill>
              <a:srgbClr val="245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6583680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20" b="1" kern="0" spc="11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HASHING  /  DISTRIBUTED HASH TABLES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1018520" y="6569964"/>
            <a:ext cx="5303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65699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2A0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Вопросы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932688" y="1993392"/>
            <a:ext cx="10323576" cy="1033272"/>
          </a:xfrm>
          <a:prstGeom prst="roundRect">
            <a:avLst>
              <a:gd name="adj" fmla="val 15929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9848" y="2276856"/>
            <a:ext cx="457200" cy="457200"/>
          </a:xfrm>
          <a:prstGeom prst="ellipse">
            <a:avLst/>
          </a:prstGeom>
          <a:solidFill>
            <a:srgbClr val="39DFBF"/>
          </a:solidFill>
          <a:ln w="17780">
            <a:solidFill>
              <a:srgbClr val="39D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2359152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10512" y="2176272"/>
            <a:ext cx="89885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Почему </a:t>
            </a:r>
            <a:r>
              <a:rPr lang="ru-RU" dirty="0">
                <a:solidFill>
                  <a:schemeClr val="bg1"/>
                </a:solidFill>
              </a:rPr>
              <a:t>Consistent Hashing не гарантирует равномерного распределения данных? И каким способом можно приблизится к нему?</a:t>
            </a:r>
          </a:p>
        </p:txBody>
      </p:sp>
      <p:sp>
        <p:nvSpPr>
          <p:cNvPr id="15" name="Shape 13"/>
          <p:cNvSpPr/>
          <p:nvPr/>
        </p:nvSpPr>
        <p:spPr>
          <a:xfrm>
            <a:off x="932688" y="3264408"/>
            <a:ext cx="10323576" cy="1033272"/>
          </a:xfrm>
          <a:prstGeom prst="roundRect">
            <a:avLst>
              <a:gd name="adj" fmla="val 15929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848" y="3547872"/>
            <a:ext cx="457200" cy="457200"/>
          </a:xfrm>
          <a:prstGeom prst="ellipse">
            <a:avLst/>
          </a:prstGeom>
          <a:solidFill>
            <a:srgbClr val="78C8FF"/>
          </a:solidFill>
          <a:ln w="17780">
            <a:solidFill>
              <a:srgbClr val="78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3630168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10512" y="3447288"/>
            <a:ext cx="89885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5000"/>
              </a:lnSpc>
            </a:pPr>
            <a:r>
              <a:rPr lang="ru-RU" dirty="0">
                <a:solidFill>
                  <a:schemeClr val="bg1"/>
                </a:solidFill>
              </a:rPr>
              <a:t>Почему в Kademlia поиск продолжается через несколько ближайших по XOR узлов, даже если уже найден участник с очень маленьким расстоянием до цели?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32688" y="4535424"/>
            <a:ext cx="10323576" cy="1033272"/>
          </a:xfrm>
          <a:prstGeom prst="roundRect">
            <a:avLst>
              <a:gd name="adj" fmla="val 15929"/>
            </a:avLst>
          </a:prstGeom>
          <a:solidFill>
            <a:srgbClr val="102A3B"/>
          </a:solidFill>
          <a:ln w="12700">
            <a:solidFill>
              <a:srgbClr val="102A3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" y="4818888"/>
            <a:ext cx="457200" cy="457200"/>
          </a:xfrm>
          <a:prstGeom prst="ellipse">
            <a:avLst/>
          </a:prstGeom>
          <a:solidFill>
            <a:srgbClr val="FFBF78"/>
          </a:solidFill>
          <a:ln w="17780">
            <a:solidFill>
              <a:srgbClr val="FFBF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4901184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919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10512" y="4718304"/>
            <a:ext cx="89885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5000"/>
              </a:lnSpc>
            </a:pPr>
            <a:r>
              <a:rPr lang="ru-RU" dirty="0">
                <a:solidFill>
                  <a:schemeClr val="bg1"/>
                </a:solidFill>
              </a:rPr>
              <a:t>Почему в </a:t>
            </a:r>
            <a:r>
              <a:rPr lang="ru-RU" dirty="0" err="1">
                <a:solidFill>
                  <a:schemeClr val="bg1"/>
                </a:solidFill>
              </a:rPr>
              <a:t>BitTorrent</a:t>
            </a:r>
            <a:r>
              <a:rPr lang="ru-RU" dirty="0">
                <a:solidFill>
                  <a:schemeClr val="bg1"/>
                </a:solidFill>
              </a:rPr>
              <a:t> выгодно иногда отдавать данные пирам, которые пока ничего не отдали нам?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2596</Words>
  <Application>Microsoft Office PowerPoint</Application>
  <PresentationFormat>Широкоэкранный</PresentationFormat>
  <Paragraphs>512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Inter</vt:lpstr>
      <vt:lpstr>Inter Display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Consistent Hashing и DHT — Chord · Kademlia · BitTorrent</dc:title>
  <dc:subject>Презентация на основе доклада о Consistent Hashing, DHT, Chord, Kademlia, BitTorrent</dc:subject>
  <dc:creator>OpenAI</dc:creator>
  <cp:lastModifiedBy>ВЛАДИВАСТОК</cp:lastModifiedBy>
  <cp:revision>11</cp:revision>
  <dcterms:created xsi:type="dcterms:W3CDTF">2026-10-21T13:33:18Z</dcterms:created>
  <dcterms:modified xsi:type="dcterms:W3CDTF">2026-10-28T06:27:24Z</dcterms:modified>
</cp:coreProperties>
</file>